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94D6E0-61C1-4F10-B752-11C17CE774E7}" v="16" dt="2026-08-17T05:47:54.381"/>
    <p1510:client id="{BF67AE2A-6610-4423-A42C-DB1346DFD4EF}" v="1" dt="2026-08-16T13:06:27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988" autoAdjust="0"/>
  </p:normalViewPr>
  <p:slideViewPr>
    <p:cSldViewPr snapToGrid="0" snapToObjects="1">
      <p:cViewPr varScale="1">
        <p:scale>
          <a:sx n="94" d="100"/>
          <a:sy n="94" d="100"/>
        </p:scale>
        <p:origin x="11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co humbert" userId="a6eb4eecb000ffd6" providerId="LiveId" clId="{09DE1239-541D-4ED2-A976-E0181688493A}"/>
    <pc:docChg chg="undo custSel modSld">
      <pc:chgData name="paco humbert" userId="a6eb4eecb000ffd6" providerId="LiveId" clId="{09DE1239-541D-4ED2-A976-E0181688493A}" dt="2026-08-17T05:48:15.389" v="253" actId="14100"/>
      <pc:docMkLst>
        <pc:docMk/>
      </pc:docMkLst>
      <pc:sldChg chg="delSp modSp mod modNotesTx">
        <pc:chgData name="paco humbert" userId="a6eb4eecb000ffd6" providerId="LiveId" clId="{09DE1239-541D-4ED2-A976-E0181688493A}" dt="2026-08-15T11:04:47.072" v="49" actId="478"/>
        <pc:sldMkLst>
          <pc:docMk/>
          <pc:sldMk cId="39665143" sldId="256"/>
        </pc:sldMkLst>
      </pc:sldChg>
      <pc:sldChg chg="modSp mod modNotesTx">
        <pc:chgData name="paco humbert" userId="a6eb4eecb000ffd6" providerId="LiveId" clId="{09DE1239-541D-4ED2-A976-E0181688493A}" dt="2026-08-16T16:21:34.666" v="72" actId="27636"/>
        <pc:sldMkLst>
          <pc:docMk/>
          <pc:sldMk cId="1491889568" sldId="257"/>
        </pc:sldMkLst>
        <pc:spChg chg="mod">
          <ac:chgData name="paco humbert" userId="a6eb4eecb000ffd6" providerId="LiveId" clId="{09DE1239-541D-4ED2-A976-E0181688493A}" dt="2026-08-16T16:21:34.666" v="72" actId="27636"/>
          <ac:spMkLst>
            <pc:docMk/>
            <pc:sldMk cId="1491889568" sldId="257"/>
            <ac:spMk id="5" creationId="{33EBF31E-D2AB-48DE-A3A9-D58F7CDC4521}"/>
          </ac:spMkLst>
        </pc:spChg>
      </pc:sldChg>
      <pc:sldChg chg="addSp delSp modSp mod modNotesTx">
        <pc:chgData name="paco humbert" userId="a6eb4eecb000ffd6" providerId="LiveId" clId="{09DE1239-541D-4ED2-A976-E0181688493A}" dt="2026-08-16T16:43:44.312" v="169" actId="1076"/>
        <pc:sldMkLst>
          <pc:docMk/>
          <pc:sldMk cId="583165168" sldId="258"/>
        </pc:sldMkLst>
        <pc:spChg chg="mod">
          <ac:chgData name="paco humbert" userId="a6eb4eecb000ffd6" providerId="LiveId" clId="{09DE1239-541D-4ED2-A976-E0181688493A}" dt="2026-08-16T16:20:35.373" v="64" actId="1076"/>
          <ac:spMkLst>
            <pc:docMk/>
            <pc:sldMk cId="583165168" sldId="258"/>
            <ac:spMk id="3" creationId="{446ACE37-DF15-45A9-87D0-32FB1B1AAE0F}"/>
          </ac:spMkLst>
        </pc:spChg>
        <pc:spChg chg="mod">
          <ac:chgData name="paco humbert" userId="a6eb4eecb000ffd6" providerId="LiveId" clId="{09DE1239-541D-4ED2-A976-E0181688493A}" dt="2026-08-16T16:22:14.359" v="84" actId="1076"/>
          <ac:spMkLst>
            <pc:docMk/>
            <pc:sldMk cId="583165168" sldId="258"/>
            <ac:spMk id="5" creationId="{473E3AF1-A7BD-406D-BB18-8435CE060066}"/>
          </ac:spMkLst>
        </pc:spChg>
        <pc:spChg chg="mod">
          <ac:chgData name="paco humbert" userId="a6eb4eecb000ffd6" providerId="LiveId" clId="{09DE1239-541D-4ED2-A976-E0181688493A}" dt="2026-08-16T16:22:03.962" v="83" actId="14100"/>
          <ac:spMkLst>
            <pc:docMk/>
            <pc:sldMk cId="583165168" sldId="258"/>
            <ac:spMk id="6" creationId="{E6534FA0-063A-4621-95AF-7C72B7E4B107}"/>
          </ac:spMkLst>
        </pc:spChg>
        <pc:spChg chg="mod">
          <ac:chgData name="paco humbert" userId="a6eb4eecb000ffd6" providerId="LiveId" clId="{09DE1239-541D-4ED2-A976-E0181688493A}" dt="2026-08-16T16:43:37.518" v="168" actId="1076"/>
          <ac:spMkLst>
            <pc:docMk/>
            <pc:sldMk cId="583165168" sldId="258"/>
            <ac:spMk id="7" creationId="{7F8C1545-D471-4AC4-96C7-B5A34E8B9D33}"/>
          </ac:spMkLst>
        </pc:spChg>
        <pc:spChg chg="mod">
          <ac:chgData name="paco humbert" userId="a6eb4eecb000ffd6" providerId="LiveId" clId="{09DE1239-541D-4ED2-A976-E0181688493A}" dt="2026-08-16T16:43:37.518" v="168" actId="1076"/>
          <ac:spMkLst>
            <pc:docMk/>
            <pc:sldMk cId="583165168" sldId="258"/>
            <ac:spMk id="8" creationId="{5B7BC481-6DC2-4252-8EE1-578115019444}"/>
          </ac:spMkLst>
        </pc:spChg>
        <pc:spChg chg="mod">
          <ac:chgData name="paco humbert" userId="a6eb4eecb000ffd6" providerId="LiveId" clId="{09DE1239-541D-4ED2-A976-E0181688493A}" dt="2026-08-16T16:22:43.839" v="89" actId="1076"/>
          <ac:spMkLst>
            <pc:docMk/>
            <pc:sldMk cId="583165168" sldId="258"/>
            <ac:spMk id="9" creationId="{78D2DDD4-76F2-482A-B970-BF89CC0E26CF}"/>
          </ac:spMkLst>
        </pc:spChg>
        <pc:spChg chg="mod">
          <ac:chgData name="paco humbert" userId="a6eb4eecb000ffd6" providerId="LiveId" clId="{09DE1239-541D-4ED2-A976-E0181688493A}" dt="2026-08-16T16:22:43.839" v="89" actId="1076"/>
          <ac:spMkLst>
            <pc:docMk/>
            <pc:sldMk cId="583165168" sldId="258"/>
            <ac:spMk id="10" creationId="{BC435B4B-389D-4BC1-ADDA-138AE8D3A166}"/>
          </ac:spMkLst>
        </pc:spChg>
        <pc:spChg chg="mod">
          <ac:chgData name="paco humbert" userId="a6eb4eecb000ffd6" providerId="LiveId" clId="{09DE1239-541D-4ED2-A976-E0181688493A}" dt="2026-08-16T16:43:44.312" v="169" actId="1076"/>
          <ac:spMkLst>
            <pc:docMk/>
            <pc:sldMk cId="583165168" sldId="258"/>
            <ac:spMk id="11" creationId="{D18E23EB-40BD-43F3-9B91-CBC4A4A497BF}"/>
          </ac:spMkLst>
        </pc:spChg>
        <pc:spChg chg="mod">
          <ac:chgData name="paco humbert" userId="a6eb4eecb000ffd6" providerId="LiveId" clId="{09DE1239-541D-4ED2-A976-E0181688493A}" dt="2026-08-16T16:43:44.312" v="169" actId="1076"/>
          <ac:spMkLst>
            <pc:docMk/>
            <pc:sldMk cId="583165168" sldId="258"/>
            <ac:spMk id="12" creationId="{F3F871B0-CDBF-42BA-9DFE-A514216C6329}"/>
          </ac:spMkLst>
        </pc:spChg>
        <pc:spChg chg="mod">
          <ac:chgData name="paco humbert" userId="a6eb4eecb000ffd6" providerId="LiveId" clId="{09DE1239-541D-4ED2-A976-E0181688493A}" dt="2026-08-16T16:20:27.991" v="62" actId="1076"/>
          <ac:spMkLst>
            <pc:docMk/>
            <pc:sldMk cId="583165168" sldId="258"/>
            <ac:spMk id="13" creationId="{EC36CDB8-0B61-43CF-BA82-74F62BC2D6FA}"/>
          </ac:spMkLst>
        </pc:spChg>
        <pc:spChg chg="add del mod">
          <ac:chgData name="paco humbert" userId="a6eb4eecb000ffd6" providerId="LiveId" clId="{09DE1239-541D-4ED2-A976-E0181688493A}" dt="2026-08-16T16:21:35.257" v="74"/>
          <ac:spMkLst>
            <pc:docMk/>
            <pc:sldMk cId="583165168" sldId="258"/>
            <ac:spMk id="14" creationId="{84A8E661-FC2B-E5F3-89E0-3B34264CC742}"/>
          </ac:spMkLst>
        </pc:spChg>
      </pc:sldChg>
      <pc:sldChg chg="modNotesTx">
        <pc:chgData name="paco humbert" userId="a6eb4eecb000ffd6" providerId="LiveId" clId="{09DE1239-541D-4ED2-A976-E0181688493A}" dt="2026-08-15T11:03:00.015" v="27" actId="20577"/>
        <pc:sldMkLst>
          <pc:docMk/>
          <pc:sldMk cId="1072432523" sldId="259"/>
        </pc:sldMkLst>
      </pc:sldChg>
      <pc:sldChg chg="addSp delSp modSp mod modNotesTx">
        <pc:chgData name="paco humbert" userId="a6eb4eecb000ffd6" providerId="LiveId" clId="{09DE1239-541D-4ED2-A976-E0181688493A}" dt="2026-08-16T16:55:54.809" v="196" actId="1076"/>
        <pc:sldMkLst>
          <pc:docMk/>
          <pc:sldMk cId="1446842224" sldId="260"/>
        </pc:sldMkLst>
        <pc:spChg chg="mod">
          <ac:chgData name="paco humbert" userId="a6eb4eecb000ffd6" providerId="LiveId" clId="{09DE1239-541D-4ED2-A976-E0181688493A}" dt="2026-08-16T16:55:54.809" v="196" actId="1076"/>
          <ac:spMkLst>
            <pc:docMk/>
            <pc:sldMk cId="1446842224" sldId="260"/>
            <ac:spMk id="5" creationId="{BEF1255E-D94D-4731-9A1A-CB5B83F5143C}"/>
          </ac:spMkLst>
        </pc:spChg>
        <pc:spChg chg="mod">
          <ac:chgData name="paco humbert" userId="a6eb4eecb000ffd6" providerId="LiveId" clId="{09DE1239-541D-4ED2-A976-E0181688493A}" dt="2026-08-16T16:40:02.771" v="145" actId="20577"/>
          <ac:spMkLst>
            <pc:docMk/>
            <pc:sldMk cId="1446842224" sldId="260"/>
            <ac:spMk id="6" creationId="{6A0772ED-D9E6-4E42-BB95-D5C3D4D2AE03}"/>
          </ac:spMkLst>
        </pc:spChg>
        <pc:spChg chg="mod">
          <ac:chgData name="paco humbert" userId="a6eb4eecb000ffd6" providerId="LiveId" clId="{09DE1239-541D-4ED2-A976-E0181688493A}" dt="2026-08-16T16:38:53.395" v="133" actId="1076"/>
          <ac:spMkLst>
            <pc:docMk/>
            <pc:sldMk cId="1446842224" sldId="260"/>
            <ac:spMk id="7" creationId="{1E01394D-A1A5-43BD-9679-676896D35C45}"/>
          </ac:spMkLst>
        </pc:spChg>
        <pc:spChg chg="mod">
          <ac:chgData name="paco humbert" userId="a6eb4eecb000ffd6" providerId="LiveId" clId="{09DE1239-541D-4ED2-A976-E0181688493A}" dt="2026-08-16T16:41:58.444" v="163" actId="20577"/>
          <ac:spMkLst>
            <pc:docMk/>
            <pc:sldMk cId="1446842224" sldId="260"/>
            <ac:spMk id="9" creationId="{2B849161-F59D-4F7C-A858-4F7E7658EAE3}"/>
          </ac:spMkLst>
        </pc:spChg>
        <pc:spChg chg="add del mod">
          <ac:chgData name="paco humbert" userId="a6eb4eecb000ffd6" providerId="LiveId" clId="{09DE1239-541D-4ED2-A976-E0181688493A}" dt="2026-08-16T16:54:40.692" v="188" actId="20577"/>
          <ac:spMkLst>
            <pc:docMk/>
            <pc:sldMk cId="1446842224" sldId="260"/>
            <ac:spMk id="12" creationId="{754664C5-B590-A15E-AFFF-3B418A621BF6}"/>
          </ac:spMkLst>
        </pc:spChg>
        <pc:spChg chg="add mod">
          <ac:chgData name="paco humbert" userId="a6eb4eecb000ffd6" providerId="LiveId" clId="{09DE1239-541D-4ED2-A976-E0181688493A}" dt="2026-08-16T16:54:48.013" v="189" actId="1076"/>
          <ac:spMkLst>
            <pc:docMk/>
            <pc:sldMk cId="1446842224" sldId="260"/>
            <ac:spMk id="14" creationId="{2F2177B0-7CF3-19BA-3A92-AE2BC73B1B74}"/>
          </ac:spMkLst>
        </pc:spChg>
        <pc:spChg chg="add del mod">
          <ac:chgData name="paco humbert" userId="a6eb4eecb000ffd6" providerId="LiveId" clId="{09DE1239-541D-4ED2-A976-E0181688493A}" dt="2026-08-16T16:36:36.308" v="113"/>
          <ac:spMkLst>
            <pc:docMk/>
            <pc:sldMk cId="1446842224" sldId="260"/>
            <ac:spMk id="15" creationId="{74080DC0-4C64-8184-2788-81E07C16544F}"/>
          </ac:spMkLst>
        </pc:spChg>
        <pc:spChg chg="add del mod">
          <ac:chgData name="paco humbert" userId="a6eb4eecb000ffd6" providerId="LiveId" clId="{09DE1239-541D-4ED2-A976-E0181688493A}" dt="2026-08-16T16:36:43.813" v="115" actId="478"/>
          <ac:spMkLst>
            <pc:docMk/>
            <pc:sldMk cId="1446842224" sldId="260"/>
            <ac:spMk id="16" creationId="{4273E060-5589-D924-02BD-6394D8A18C75}"/>
          </ac:spMkLst>
        </pc:spChg>
        <pc:spChg chg="add del mod">
          <ac:chgData name="paco humbert" userId="a6eb4eecb000ffd6" providerId="LiveId" clId="{09DE1239-541D-4ED2-A976-E0181688493A}" dt="2026-08-16T16:38:20.145" v="127"/>
          <ac:spMkLst>
            <pc:docMk/>
            <pc:sldMk cId="1446842224" sldId="260"/>
            <ac:spMk id="17" creationId="{FC8A9C42-21FF-3DB0-49AC-AF7C172BD647}"/>
          </ac:spMkLst>
        </pc:spChg>
        <pc:spChg chg="add mod">
          <ac:chgData name="paco humbert" userId="a6eb4eecb000ffd6" providerId="LiveId" clId="{09DE1239-541D-4ED2-A976-E0181688493A}" dt="2026-08-16T16:39:00.552" v="134"/>
          <ac:spMkLst>
            <pc:docMk/>
            <pc:sldMk cId="1446842224" sldId="260"/>
            <ac:spMk id="19" creationId="{4EBEEA62-FD4A-4B0D-CF1B-466D78429AA8}"/>
          </ac:spMkLst>
        </pc:spChg>
        <pc:spChg chg="add mod">
          <ac:chgData name="paco humbert" userId="a6eb4eecb000ffd6" providerId="LiveId" clId="{09DE1239-541D-4ED2-A976-E0181688493A}" dt="2026-08-16T16:39:05.596" v="135"/>
          <ac:spMkLst>
            <pc:docMk/>
            <pc:sldMk cId="1446842224" sldId="260"/>
            <ac:spMk id="21" creationId="{8A1D0BE6-34F8-BF69-8B32-24F6530D1FBE}"/>
          </ac:spMkLst>
        </pc:spChg>
        <pc:spChg chg="add del mod">
          <ac:chgData name="paco humbert" userId="a6eb4eecb000ffd6" providerId="LiveId" clId="{09DE1239-541D-4ED2-A976-E0181688493A}" dt="2026-08-16T16:39:51.448" v="143"/>
          <ac:spMkLst>
            <pc:docMk/>
            <pc:sldMk cId="1446842224" sldId="260"/>
            <ac:spMk id="22" creationId="{7DAA973C-FF8E-16AA-FE22-1BE82B8E1B34}"/>
          </ac:spMkLst>
        </pc:spChg>
        <pc:picChg chg="add del">
          <ac:chgData name="paco humbert" userId="a6eb4eecb000ffd6" providerId="LiveId" clId="{09DE1239-541D-4ED2-A976-E0181688493A}" dt="2026-08-16T16:36:02.501" v="100" actId="22"/>
          <ac:picMkLst>
            <pc:docMk/>
            <pc:sldMk cId="1446842224" sldId="260"/>
            <ac:picMk id="10" creationId="{BD7DCEB0-DF3C-3C60-E598-2D4CA9840481}"/>
          </ac:picMkLst>
        </pc:picChg>
        <pc:picChg chg="mod">
          <ac:chgData name="paco humbert" userId="a6eb4eecb000ffd6" providerId="LiveId" clId="{09DE1239-541D-4ED2-A976-E0181688493A}" dt="2026-08-16T16:30:41.956" v="97" actId="14100"/>
          <ac:picMkLst>
            <pc:docMk/>
            <pc:sldMk cId="1446842224" sldId="260"/>
            <ac:picMk id="38" creationId="{00000000-0000-0000-0000-000000000000}"/>
          </ac:picMkLst>
        </pc:picChg>
      </pc:sldChg>
      <pc:sldChg chg="modSp mod modNotesTx">
        <pc:chgData name="paco humbert" userId="a6eb4eecb000ffd6" providerId="LiveId" clId="{09DE1239-541D-4ED2-A976-E0181688493A}" dt="2026-08-16T16:41:10.813" v="159" actId="20577"/>
        <pc:sldMkLst>
          <pc:docMk/>
          <pc:sldMk cId="1749106881" sldId="261"/>
        </pc:sldMkLst>
        <pc:spChg chg="mod">
          <ac:chgData name="paco humbert" userId="a6eb4eecb000ffd6" providerId="LiveId" clId="{09DE1239-541D-4ED2-A976-E0181688493A}" dt="2026-08-16T16:40:42.222" v="157" actId="1076"/>
          <ac:spMkLst>
            <pc:docMk/>
            <pc:sldMk cId="1749106881" sldId="261"/>
            <ac:spMk id="4" creationId="{E146BBC1-BE67-4391-BCB8-6E574E2DD96C}"/>
          </ac:spMkLst>
        </pc:spChg>
        <pc:spChg chg="mod">
          <ac:chgData name="paco humbert" userId="a6eb4eecb000ffd6" providerId="LiveId" clId="{09DE1239-541D-4ED2-A976-E0181688493A}" dt="2026-08-16T16:41:02.303" v="158" actId="1076"/>
          <ac:spMkLst>
            <pc:docMk/>
            <pc:sldMk cId="1749106881" sldId="261"/>
            <ac:spMk id="6" creationId="{3F306194-375A-4B28-BE5B-A8594134C967}"/>
          </ac:spMkLst>
        </pc:spChg>
        <pc:spChg chg="mod">
          <ac:chgData name="paco humbert" userId="a6eb4eecb000ffd6" providerId="LiveId" clId="{09DE1239-541D-4ED2-A976-E0181688493A}" dt="2026-08-16T16:41:02.303" v="158" actId="1076"/>
          <ac:spMkLst>
            <pc:docMk/>
            <pc:sldMk cId="1749106881" sldId="261"/>
            <ac:spMk id="7" creationId="{CB734048-BFE9-48BA-82CD-455E3B9866A5}"/>
          </ac:spMkLst>
        </pc:spChg>
        <pc:spChg chg="mod">
          <ac:chgData name="paco humbert" userId="a6eb4eecb000ffd6" providerId="LiveId" clId="{09DE1239-541D-4ED2-A976-E0181688493A}" dt="2026-08-16T16:41:02.303" v="158" actId="1076"/>
          <ac:spMkLst>
            <pc:docMk/>
            <pc:sldMk cId="1749106881" sldId="261"/>
            <ac:spMk id="8" creationId="{F31196E9-D078-4F86-BFA6-CB2678C72DCC}"/>
          </ac:spMkLst>
        </pc:spChg>
        <pc:spChg chg="mod">
          <ac:chgData name="paco humbert" userId="a6eb4eecb000ffd6" providerId="LiveId" clId="{09DE1239-541D-4ED2-A976-E0181688493A}" dt="2026-08-16T16:41:10.813" v="159" actId="20577"/>
          <ac:spMkLst>
            <pc:docMk/>
            <pc:sldMk cId="1749106881" sldId="261"/>
            <ac:spMk id="9" creationId="{EBA188BB-3DC3-44A6-AD7A-426C020E3F39}"/>
          </ac:spMkLst>
        </pc:spChg>
        <pc:picChg chg="mod">
          <ac:chgData name="paco humbert" userId="a6eb4eecb000ffd6" providerId="LiveId" clId="{09DE1239-541D-4ED2-A976-E0181688493A}" dt="2026-08-15T11:05:02.874" v="50" actId="14100"/>
          <ac:picMkLst>
            <pc:docMk/>
            <pc:sldMk cId="1749106881" sldId="261"/>
            <ac:picMk id="38" creationId="{00000000-0000-0000-0000-000000000000}"/>
          </ac:picMkLst>
        </pc:picChg>
      </pc:sldChg>
      <pc:sldChg chg="modSp mod modNotesTx">
        <pc:chgData name="paco humbert" userId="a6eb4eecb000ffd6" providerId="LiveId" clId="{09DE1239-541D-4ED2-A976-E0181688493A}" dt="2026-08-16T16:42:19.029" v="164" actId="1076"/>
        <pc:sldMkLst>
          <pc:docMk/>
          <pc:sldMk cId="1749106881" sldId="262"/>
        </pc:sldMkLst>
        <pc:spChg chg="mod">
          <ac:chgData name="paco humbert" userId="a6eb4eecb000ffd6" providerId="LiveId" clId="{09DE1239-541D-4ED2-A976-E0181688493A}" dt="2026-08-16T16:42:19.029" v="164" actId="1076"/>
          <ac:spMkLst>
            <pc:docMk/>
            <pc:sldMk cId="1749106881" sldId="262"/>
            <ac:spMk id="6" creationId="{3F306194-375A-4B28-BE5B-A8594134C967}"/>
          </ac:spMkLst>
        </pc:spChg>
        <pc:spChg chg="mod">
          <ac:chgData name="paco humbert" userId="a6eb4eecb000ffd6" providerId="LiveId" clId="{09DE1239-541D-4ED2-A976-E0181688493A}" dt="2026-08-16T16:42:19.029" v="164" actId="1076"/>
          <ac:spMkLst>
            <pc:docMk/>
            <pc:sldMk cId="1749106881" sldId="262"/>
            <ac:spMk id="7" creationId="{CB734048-BFE9-48BA-82CD-455E3B9866A5}"/>
          </ac:spMkLst>
        </pc:spChg>
        <pc:spChg chg="mod">
          <ac:chgData name="paco humbert" userId="a6eb4eecb000ffd6" providerId="LiveId" clId="{09DE1239-541D-4ED2-A976-E0181688493A}" dt="2026-08-16T16:42:19.029" v="164" actId="1076"/>
          <ac:spMkLst>
            <pc:docMk/>
            <pc:sldMk cId="1749106881" sldId="262"/>
            <ac:spMk id="8" creationId="{F31196E9-D078-4F86-BFA6-CB2678C72DCC}"/>
          </ac:spMkLst>
        </pc:spChg>
        <pc:picChg chg="mod">
          <ac:chgData name="paco humbert" userId="a6eb4eecb000ffd6" providerId="LiveId" clId="{09DE1239-541D-4ED2-A976-E0181688493A}" dt="2026-08-15T11:05:15.830" v="51" actId="14100"/>
          <ac:picMkLst>
            <pc:docMk/>
            <pc:sldMk cId="1749106881" sldId="262"/>
            <ac:picMk id="38" creationId="{00000000-0000-0000-0000-000000000000}"/>
          </ac:picMkLst>
        </pc:picChg>
      </pc:sldChg>
      <pc:sldChg chg="modSp mod modNotesTx">
        <pc:chgData name="paco humbert" userId="a6eb4eecb000ffd6" providerId="LiveId" clId="{09DE1239-541D-4ED2-A976-E0181688493A}" dt="2026-08-15T11:03:14.267" v="31" actId="20577"/>
        <pc:sldMkLst>
          <pc:docMk/>
          <pc:sldMk cId="324265407" sldId="263"/>
        </pc:sldMkLst>
        <pc:spChg chg="mod">
          <ac:chgData name="paco humbert" userId="a6eb4eecb000ffd6" providerId="LiveId" clId="{09DE1239-541D-4ED2-A976-E0181688493A}" dt="2026-08-15T10:57:48.772" v="13" actId="1076"/>
          <ac:spMkLst>
            <pc:docMk/>
            <pc:sldMk cId="324265407" sldId="263"/>
            <ac:spMk id="15" creationId="{215AD6A5-C571-4FC6-9AA3-7D630C93A69B}"/>
          </ac:spMkLst>
        </pc:spChg>
      </pc:sldChg>
      <pc:sldChg chg="modNotesTx">
        <pc:chgData name="paco humbert" userId="a6eb4eecb000ffd6" providerId="LiveId" clId="{09DE1239-541D-4ED2-A976-E0181688493A}" dt="2026-08-15T11:03:16.487" v="32" actId="20577"/>
        <pc:sldMkLst>
          <pc:docMk/>
          <pc:sldMk cId="1072432523" sldId="264"/>
        </pc:sldMkLst>
      </pc:sldChg>
      <pc:sldChg chg="modNotesTx">
        <pc:chgData name="paco humbert" userId="a6eb4eecb000ffd6" providerId="LiveId" clId="{09DE1239-541D-4ED2-A976-E0181688493A}" dt="2026-08-15T11:03:18.712" v="33" actId="20577"/>
        <pc:sldMkLst>
          <pc:docMk/>
          <pc:sldMk cId="1465155476" sldId="265"/>
        </pc:sldMkLst>
      </pc:sldChg>
      <pc:sldChg chg="modSp mod modNotesTx">
        <pc:chgData name="paco humbert" userId="a6eb4eecb000ffd6" providerId="LiveId" clId="{09DE1239-541D-4ED2-A976-E0181688493A}" dt="2026-08-16T16:45:01.514" v="178" actId="1076"/>
        <pc:sldMkLst>
          <pc:docMk/>
          <pc:sldMk cId="210672022" sldId="266"/>
        </pc:sldMkLst>
        <pc:spChg chg="mod">
          <ac:chgData name="paco humbert" userId="a6eb4eecb000ffd6" providerId="LiveId" clId="{09DE1239-541D-4ED2-A976-E0181688493A}" dt="2026-08-16T16:45:01.514" v="178" actId="1076"/>
          <ac:spMkLst>
            <pc:docMk/>
            <pc:sldMk cId="210672022" sldId="266"/>
            <ac:spMk id="5" creationId="{EC2F37DD-4494-4247-9170-558F0D0AC16C}"/>
          </ac:spMkLst>
        </pc:spChg>
        <pc:spChg chg="mod">
          <ac:chgData name="paco humbert" userId="a6eb4eecb000ffd6" providerId="LiveId" clId="{09DE1239-541D-4ED2-A976-E0181688493A}" dt="2026-08-16T16:45:01.514" v="178" actId="1076"/>
          <ac:spMkLst>
            <pc:docMk/>
            <pc:sldMk cId="210672022" sldId="266"/>
            <ac:spMk id="6" creationId="{35CDB15E-92A0-4A82-9E26-8BCCED4260D8}"/>
          </ac:spMkLst>
        </pc:spChg>
        <pc:spChg chg="mod">
          <ac:chgData name="paco humbert" userId="a6eb4eecb000ffd6" providerId="LiveId" clId="{09DE1239-541D-4ED2-A976-E0181688493A}" dt="2026-08-16T16:44:53.279" v="177" actId="1076"/>
          <ac:spMkLst>
            <pc:docMk/>
            <pc:sldMk cId="210672022" sldId="266"/>
            <ac:spMk id="7" creationId="{E281AA3E-059E-41FB-B2A4-F6C5D2F06782}"/>
          </ac:spMkLst>
        </pc:spChg>
        <pc:spChg chg="mod">
          <ac:chgData name="paco humbert" userId="a6eb4eecb000ffd6" providerId="LiveId" clId="{09DE1239-541D-4ED2-A976-E0181688493A}" dt="2026-08-16T16:44:53.279" v="177" actId="1076"/>
          <ac:spMkLst>
            <pc:docMk/>
            <pc:sldMk cId="210672022" sldId="266"/>
            <ac:spMk id="8" creationId="{F7543204-34BD-4209-AFF4-A1545142F09B}"/>
          </ac:spMkLst>
        </pc:spChg>
        <pc:spChg chg="mod">
          <ac:chgData name="paco humbert" userId="a6eb4eecb000ffd6" providerId="LiveId" clId="{09DE1239-541D-4ED2-A976-E0181688493A}" dt="2026-08-16T16:44:44.804" v="176" actId="1076"/>
          <ac:spMkLst>
            <pc:docMk/>
            <pc:sldMk cId="210672022" sldId="266"/>
            <ac:spMk id="9" creationId="{D1D67A08-9261-48D9-BE90-01D7C720C35F}"/>
          </ac:spMkLst>
        </pc:spChg>
        <pc:spChg chg="mod">
          <ac:chgData name="paco humbert" userId="a6eb4eecb000ffd6" providerId="LiveId" clId="{09DE1239-541D-4ED2-A976-E0181688493A}" dt="2026-08-16T16:44:44.804" v="176" actId="1076"/>
          <ac:spMkLst>
            <pc:docMk/>
            <pc:sldMk cId="210672022" sldId="266"/>
            <ac:spMk id="10" creationId="{3E2A251B-FA9D-4859-963F-DE531A7D9EA6}"/>
          </ac:spMkLst>
        </pc:spChg>
        <pc:spChg chg="mod">
          <ac:chgData name="paco humbert" userId="a6eb4eecb000ffd6" providerId="LiveId" clId="{09DE1239-541D-4ED2-A976-E0181688493A}" dt="2026-08-16T16:44:37.988" v="175" actId="1076"/>
          <ac:spMkLst>
            <pc:docMk/>
            <pc:sldMk cId="210672022" sldId="266"/>
            <ac:spMk id="11" creationId="{FDCF7911-083E-42CC-8FDF-024D102F1481}"/>
          </ac:spMkLst>
        </pc:spChg>
        <pc:spChg chg="mod">
          <ac:chgData name="paco humbert" userId="a6eb4eecb000ffd6" providerId="LiveId" clId="{09DE1239-541D-4ED2-A976-E0181688493A}" dt="2026-08-16T16:44:37.988" v="175" actId="1076"/>
          <ac:spMkLst>
            <pc:docMk/>
            <pc:sldMk cId="210672022" sldId="266"/>
            <ac:spMk id="12" creationId="{B8FAF69D-0EA0-4F96-BD6B-EAA665A81DFD}"/>
          </ac:spMkLst>
        </pc:spChg>
      </pc:sldChg>
      <pc:sldChg chg="addSp delSp modSp mod modNotesTx">
        <pc:chgData name="paco humbert" userId="a6eb4eecb000ffd6" providerId="LiveId" clId="{09DE1239-541D-4ED2-A976-E0181688493A}" dt="2026-08-17T05:42:12.410" v="212" actId="14100"/>
        <pc:sldMkLst>
          <pc:docMk/>
          <pc:sldMk cId="1446842224" sldId="267"/>
        </pc:sldMkLst>
        <pc:spChg chg="mod">
          <ac:chgData name="paco humbert" userId="a6eb4eecb000ffd6" providerId="LiveId" clId="{09DE1239-541D-4ED2-A976-E0181688493A}" dt="2026-08-16T16:56:00.449" v="197" actId="1076"/>
          <ac:spMkLst>
            <pc:docMk/>
            <pc:sldMk cId="1446842224" sldId="267"/>
            <ac:spMk id="5" creationId="{BEF1255E-D94D-4731-9A1A-CB5B83F5143C}"/>
          </ac:spMkLst>
        </pc:spChg>
        <pc:spChg chg="mod">
          <ac:chgData name="paco humbert" userId="a6eb4eecb000ffd6" providerId="LiveId" clId="{09DE1239-541D-4ED2-A976-E0181688493A}" dt="2026-08-17T05:40:49.654" v="202" actId="1076"/>
          <ac:spMkLst>
            <pc:docMk/>
            <pc:sldMk cId="1446842224" sldId="267"/>
            <ac:spMk id="7" creationId="{1E01394D-A1A5-43BD-9679-676896D35C45}"/>
          </ac:spMkLst>
        </pc:spChg>
        <pc:spChg chg="mod">
          <ac:chgData name="paco humbert" userId="a6eb4eecb000ffd6" providerId="LiveId" clId="{09DE1239-541D-4ED2-A976-E0181688493A}" dt="2026-08-17T05:42:08.190" v="211" actId="1076"/>
          <ac:spMkLst>
            <pc:docMk/>
            <pc:sldMk cId="1446842224" sldId="267"/>
            <ac:spMk id="9" creationId="{2B849161-F59D-4F7C-A858-4F7E7658EAE3}"/>
          </ac:spMkLst>
        </pc:spChg>
        <pc:spChg chg="add mod">
          <ac:chgData name="paco humbert" userId="a6eb4eecb000ffd6" providerId="LiveId" clId="{09DE1239-541D-4ED2-A976-E0181688493A}" dt="2026-08-16T16:55:21.212" v="193" actId="1076"/>
          <ac:spMkLst>
            <pc:docMk/>
            <pc:sldMk cId="1446842224" sldId="267"/>
            <ac:spMk id="10" creationId="{D2CC6D02-1067-1296-0733-AC69F4DEDDC3}"/>
          </ac:spMkLst>
        </pc:spChg>
        <pc:spChg chg="add mod">
          <ac:chgData name="paco humbert" userId="a6eb4eecb000ffd6" providerId="LiveId" clId="{09DE1239-541D-4ED2-A976-E0181688493A}" dt="2026-08-17T05:41:08.419" v="205"/>
          <ac:spMkLst>
            <pc:docMk/>
            <pc:sldMk cId="1446842224" sldId="267"/>
            <ac:spMk id="11" creationId="{591286D8-1CB9-202B-B3B7-DB652C53B0B2}"/>
          </ac:spMkLst>
        </pc:spChg>
        <pc:spChg chg="add mod">
          <ac:chgData name="paco humbert" userId="a6eb4eecb000ffd6" providerId="LiveId" clId="{09DE1239-541D-4ED2-A976-E0181688493A}" dt="2026-08-16T16:55:16.523" v="192" actId="1076"/>
          <ac:spMkLst>
            <pc:docMk/>
            <pc:sldMk cId="1446842224" sldId="267"/>
            <ac:spMk id="12" creationId="{8125B10C-C359-3753-CD54-5277F45B6440}"/>
          </ac:spMkLst>
        </pc:spChg>
        <pc:spChg chg="add mod">
          <ac:chgData name="paco humbert" userId="a6eb4eecb000ffd6" providerId="LiveId" clId="{09DE1239-541D-4ED2-A976-E0181688493A}" dt="2026-08-17T05:41:16.613" v="206"/>
          <ac:spMkLst>
            <pc:docMk/>
            <pc:sldMk cId="1446842224" sldId="267"/>
            <ac:spMk id="14" creationId="{522346A0-702A-D013-E6E5-0D89A282B075}"/>
          </ac:spMkLst>
        </pc:spChg>
        <pc:spChg chg="add del mod">
          <ac:chgData name="paco humbert" userId="a6eb4eecb000ffd6" providerId="LiveId" clId="{09DE1239-541D-4ED2-A976-E0181688493A}" dt="2026-08-17T05:41:24.585" v="208"/>
          <ac:spMkLst>
            <pc:docMk/>
            <pc:sldMk cId="1446842224" sldId="267"/>
            <ac:spMk id="15" creationId="{032F3202-8E2A-DDB2-919C-7FD6160D84B5}"/>
          </ac:spMkLst>
        </pc:spChg>
        <pc:picChg chg="mod">
          <ac:chgData name="paco humbert" userId="a6eb4eecb000ffd6" providerId="LiveId" clId="{09DE1239-541D-4ED2-A976-E0181688493A}" dt="2026-08-17T05:42:12.410" v="212" actId="14100"/>
          <ac:picMkLst>
            <pc:docMk/>
            <pc:sldMk cId="1446842224" sldId="267"/>
            <ac:picMk id="38" creationId="{00000000-0000-0000-0000-000000000000}"/>
          </ac:picMkLst>
        </pc:picChg>
      </pc:sldChg>
      <pc:sldChg chg="modSp mod modNotesTx">
        <pc:chgData name="paco humbert" userId="a6eb4eecb000ffd6" providerId="LiveId" clId="{09DE1239-541D-4ED2-A976-E0181688493A}" dt="2026-08-17T05:41:44.842" v="210" actId="14100"/>
        <pc:sldMkLst>
          <pc:docMk/>
          <pc:sldMk cId="1749106881" sldId="268"/>
        </pc:sldMkLst>
        <pc:spChg chg="mod">
          <ac:chgData name="paco humbert" userId="a6eb4eecb000ffd6" providerId="LiveId" clId="{09DE1239-541D-4ED2-A976-E0181688493A}" dt="2026-08-17T05:41:39.561" v="209" actId="1076"/>
          <ac:spMkLst>
            <pc:docMk/>
            <pc:sldMk cId="1749106881" sldId="268"/>
            <ac:spMk id="6" creationId="{3F306194-375A-4B28-BE5B-A8594134C967}"/>
          </ac:spMkLst>
        </pc:spChg>
        <pc:spChg chg="mod">
          <ac:chgData name="paco humbert" userId="a6eb4eecb000ffd6" providerId="LiveId" clId="{09DE1239-541D-4ED2-A976-E0181688493A}" dt="2026-08-17T05:41:39.561" v="209" actId="1076"/>
          <ac:spMkLst>
            <pc:docMk/>
            <pc:sldMk cId="1749106881" sldId="268"/>
            <ac:spMk id="7" creationId="{CB734048-BFE9-48BA-82CD-455E3B9866A5}"/>
          </ac:spMkLst>
        </pc:spChg>
        <pc:spChg chg="mod">
          <ac:chgData name="paco humbert" userId="a6eb4eecb000ffd6" providerId="LiveId" clId="{09DE1239-541D-4ED2-A976-E0181688493A}" dt="2026-08-17T05:41:39.561" v="209" actId="1076"/>
          <ac:spMkLst>
            <pc:docMk/>
            <pc:sldMk cId="1749106881" sldId="268"/>
            <ac:spMk id="8" creationId="{F31196E9-D078-4F86-BFA6-CB2678C72DCC}"/>
          </ac:spMkLst>
        </pc:spChg>
        <pc:picChg chg="mod">
          <ac:chgData name="paco humbert" userId="a6eb4eecb000ffd6" providerId="LiveId" clId="{09DE1239-541D-4ED2-A976-E0181688493A}" dt="2026-08-17T05:41:44.842" v="210" actId="14100"/>
          <ac:picMkLst>
            <pc:docMk/>
            <pc:sldMk cId="1749106881" sldId="268"/>
            <ac:picMk id="38" creationId="{00000000-0000-0000-0000-000000000000}"/>
          </ac:picMkLst>
        </pc:picChg>
      </pc:sldChg>
      <pc:sldChg chg="addSp delSp modSp mod modNotesTx">
        <pc:chgData name="paco humbert" userId="a6eb4eecb000ffd6" providerId="LiveId" clId="{09DE1239-541D-4ED2-A976-E0181688493A}" dt="2026-08-17T05:47:54.381" v="249"/>
        <pc:sldMkLst>
          <pc:docMk/>
          <pc:sldMk cId="1446842224" sldId="269"/>
        </pc:sldMkLst>
        <pc:spChg chg="del">
          <ac:chgData name="paco humbert" userId="a6eb4eecb000ffd6" providerId="LiveId" clId="{09DE1239-541D-4ED2-A976-E0181688493A}" dt="2026-08-17T05:43:18.479" v="219" actId="478"/>
          <ac:spMkLst>
            <pc:docMk/>
            <pc:sldMk cId="1446842224" sldId="269"/>
            <ac:spMk id="5" creationId="{BEF1255E-D94D-4731-9A1A-CB5B83F5143C}"/>
          </ac:spMkLst>
        </pc:spChg>
        <pc:spChg chg="del mod">
          <ac:chgData name="paco humbert" userId="a6eb4eecb000ffd6" providerId="LiveId" clId="{09DE1239-541D-4ED2-A976-E0181688493A}" dt="2026-08-17T05:43:14.866" v="216" actId="478"/>
          <ac:spMkLst>
            <pc:docMk/>
            <pc:sldMk cId="1446842224" sldId="269"/>
            <ac:spMk id="6" creationId="{6A0772ED-D9E6-4E42-BB95-D5C3D4D2AE03}"/>
          </ac:spMkLst>
        </pc:spChg>
        <pc:spChg chg="del mod">
          <ac:chgData name="paco humbert" userId="a6eb4eecb000ffd6" providerId="LiveId" clId="{09DE1239-541D-4ED2-A976-E0181688493A}" dt="2026-08-17T05:43:17.532" v="218" actId="478"/>
          <ac:spMkLst>
            <pc:docMk/>
            <pc:sldMk cId="1446842224" sldId="269"/>
            <ac:spMk id="7" creationId="{1E01394D-A1A5-43BD-9679-676896D35C45}"/>
          </ac:spMkLst>
        </pc:spChg>
        <pc:spChg chg="mod">
          <ac:chgData name="paco humbert" userId="a6eb4eecb000ffd6" providerId="LiveId" clId="{09DE1239-541D-4ED2-A976-E0181688493A}" dt="2026-08-17T05:42:19.766" v="213" actId="1076"/>
          <ac:spMkLst>
            <pc:docMk/>
            <pc:sldMk cId="1446842224" sldId="269"/>
            <ac:spMk id="9" creationId="{2B849161-F59D-4F7C-A858-4F7E7658EAE3}"/>
          </ac:spMkLst>
        </pc:spChg>
        <pc:spChg chg="add mod">
          <ac:chgData name="paco humbert" userId="a6eb4eecb000ffd6" providerId="LiveId" clId="{09DE1239-541D-4ED2-A976-E0181688493A}" dt="2026-08-17T05:45:23.226" v="225" actId="20577"/>
          <ac:spMkLst>
            <pc:docMk/>
            <pc:sldMk cId="1446842224" sldId="269"/>
            <ac:spMk id="10" creationId="{FC5DDF09-BB3D-91E6-54E2-1345E985A2A8}"/>
          </ac:spMkLst>
        </pc:spChg>
        <pc:spChg chg="add mod">
          <ac:chgData name="paco humbert" userId="a6eb4eecb000ffd6" providerId="LiveId" clId="{09DE1239-541D-4ED2-A976-E0181688493A}" dt="2026-08-17T05:45:29.012" v="230" actId="20577"/>
          <ac:spMkLst>
            <pc:docMk/>
            <pc:sldMk cId="1446842224" sldId="269"/>
            <ac:spMk id="12" creationId="{48C844C7-BED7-7C15-C385-5BF305B2B19B}"/>
          </ac:spMkLst>
        </pc:spChg>
        <pc:spChg chg="add mod">
          <ac:chgData name="paco humbert" userId="a6eb4eecb000ffd6" providerId="LiveId" clId="{09DE1239-541D-4ED2-A976-E0181688493A}" dt="2026-08-17T05:46:28.723" v="239" actId="20577"/>
          <ac:spMkLst>
            <pc:docMk/>
            <pc:sldMk cId="1446842224" sldId="269"/>
            <ac:spMk id="14" creationId="{43F51E7C-6B6D-B704-EEEB-1F91556B7D0C}"/>
          </ac:spMkLst>
        </pc:spChg>
        <pc:spChg chg="add mod">
          <ac:chgData name="paco humbert" userId="a6eb4eecb000ffd6" providerId="LiveId" clId="{09DE1239-541D-4ED2-A976-E0181688493A}" dt="2026-08-17T05:47:37.989" v="247"/>
          <ac:spMkLst>
            <pc:docMk/>
            <pc:sldMk cId="1446842224" sldId="269"/>
            <ac:spMk id="16" creationId="{2AA1EF77-745C-9549-CF0F-6A5B508965DE}"/>
          </ac:spMkLst>
        </pc:spChg>
        <pc:spChg chg="add mod">
          <ac:chgData name="paco humbert" userId="a6eb4eecb000ffd6" providerId="LiveId" clId="{09DE1239-541D-4ED2-A976-E0181688493A}" dt="2026-08-17T05:47:45.193" v="248"/>
          <ac:spMkLst>
            <pc:docMk/>
            <pc:sldMk cId="1446842224" sldId="269"/>
            <ac:spMk id="18" creationId="{8B6D16B6-9753-0447-7979-29DAA9A82043}"/>
          </ac:spMkLst>
        </pc:spChg>
        <pc:spChg chg="add mod">
          <ac:chgData name="paco humbert" userId="a6eb4eecb000ffd6" providerId="LiveId" clId="{09DE1239-541D-4ED2-A976-E0181688493A}" dt="2026-08-17T05:47:54.381" v="249"/>
          <ac:spMkLst>
            <pc:docMk/>
            <pc:sldMk cId="1446842224" sldId="269"/>
            <ac:spMk id="20" creationId="{0B44E1AF-89C6-2504-9EF1-C2BBB20BF89E}"/>
          </ac:spMkLst>
        </pc:spChg>
        <pc:picChg chg="mod">
          <ac:chgData name="paco humbert" userId="a6eb4eecb000ffd6" providerId="LiveId" clId="{09DE1239-541D-4ED2-A976-E0181688493A}" dt="2026-08-15T11:06:03.885" v="55" actId="14100"/>
          <ac:picMkLst>
            <pc:docMk/>
            <pc:sldMk cId="1446842224" sldId="269"/>
            <ac:picMk id="38" creationId="{00000000-0000-0000-0000-000000000000}"/>
          </ac:picMkLst>
        </pc:picChg>
      </pc:sldChg>
      <pc:sldChg chg="delSp mod modNotesTx">
        <pc:chgData name="paco humbert" userId="a6eb4eecb000ffd6" providerId="LiveId" clId="{09DE1239-541D-4ED2-A976-E0181688493A}" dt="2026-08-15T11:06:13.070" v="56" actId="478"/>
        <pc:sldMkLst>
          <pc:docMk/>
          <pc:sldMk cId="39665143" sldId="270"/>
        </pc:sldMkLst>
      </pc:sldChg>
      <pc:sldChg chg="modNotesTx">
        <pc:chgData name="paco humbert" userId="a6eb4eecb000ffd6" providerId="LiveId" clId="{09DE1239-541D-4ED2-A976-E0181688493A}" dt="2026-08-15T11:03:38.322" v="39" actId="20577"/>
        <pc:sldMkLst>
          <pc:docMk/>
          <pc:sldMk cId="1491889568" sldId="271"/>
        </pc:sldMkLst>
      </pc:sldChg>
      <pc:sldChg chg="modNotesTx">
        <pc:chgData name="paco humbert" userId="a6eb4eecb000ffd6" providerId="LiveId" clId="{09DE1239-541D-4ED2-A976-E0181688493A}" dt="2026-08-15T11:02:42.565" v="23" actId="20577"/>
        <pc:sldMkLst>
          <pc:docMk/>
          <pc:sldMk cId="1465155476" sldId="272"/>
        </pc:sldMkLst>
      </pc:sldChg>
      <pc:sldChg chg="delSp modSp mod modNotesTx">
        <pc:chgData name="paco humbert" userId="a6eb4eecb000ffd6" providerId="LiveId" clId="{09DE1239-541D-4ED2-A976-E0181688493A}" dt="2026-08-17T05:48:15.389" v="253" actId="14100"/>
        <pc:sldMkLst>
          <pc:docMk/>
          <pc:sldMk cId="1749106881" sldId="273"/>
        </pc:sldMkLst>
        <pc:spChg chg="mod">
          <ac:chgData name="paco humbert" userId="a6eb4eecb000ffd6" providerId="LiveId" clId="{09DE1239-541D-4ED2-A976-E0181688493A}" dt="2026-08-17T05:48:12.136" v="252" actId="1076"/>
          <ac:spMkLst>
            <pc:docMk/>
            <pc:sldMk cId="1749106881" sldId="273"/>
            <ac:spMk id="6" creationId="{3F306194-375A-4B28-BE5B-A8594134C967}"/>
          </ac:spMkLst>
        </pc:spChg>
        <pc:spChg chg="mod">
          <ac:chgData name="paco humbert" userId="a6eb4eecb000ffd6" providerId="LiveId" clId="{09DE1239-541D-4ED2-A976-E0181688493A}" dt="2026-08-17T05:48:12.136" v="252" actId="1076"/>
          <ac:spMkLst>
            <pc:docMk/>
            <pc:sldMk cId="1749106881" sldId="273"/>
            <ac:spMk id="7" creationId="{CB734048-BFE9-48BA-82CD-455E3B9866A5}"/>
          </ac:spMkLst>
        </pc:spChg>
        <pc:spChg chg="mod">
          <ac:chgData name="paco humbert" userId="a6eb4eecb000ffd6" providerId="LiveId" clId="{09DE1239-541D-4ED2-A976-E0181688493A}" dt="2026-08-17T05:48:12.136" v="252" actId="1076"/>
          <ac:spMkLst>
            <pc:docMk/>
            <pc:sldMk cId="1749106881" sldId="273"/>
            <ac:spMk id="8" creationId="{F31196E9-D078-4F86-BFA6-CB2678C72DCC}"/>
          </ac:spMkLst>
        </pc:spChg>
        <pc:spChg chg="del mod">
          <ac:chgData name="paco humbert" userId="a6eb4eecb000ffd6" providerId="LiveId" clId="{09DE1239-541D-4ED2-A976-E0181688493A}" dt="2026-08-17T05:48:05.519" v="251" actId="478"/>
          <ac:spMkLst>
            <pc:docMk/>
            <pc:sldMk cId="1749106881" sldId="273"/>
            <ac:spMk id="9" creationId="{EBA188BB-3DC3-44A6-AD7A-426C020E3F39}"/>
          </ac:spMkLst>
        </pc:spChg>
        <pc:picChg chg="mod">
          <ac:chgData name="paco humbert" userId="a6eb4eecb000ffd6" providerId="LiveId" clId="{09DE1239-541D-4ED2-A976-E0181688493A}" dt="2026-08-17T05:48:15.389" v="253" actId="14100"/>
          <ac:picMkLst>
            <pc:docMk/>
            <pc:sldMk cId="1749106881" sldId="273"/>
            <ac:picMk id="38" creationId="{00000000-0000-0000-0000-000000000000}"/>
          </ac:picMkLst>
        </pc:picChg>
      </pc:sldChg>
      <pc:sldChg chg="modSp mod modNotesTx">
        <pc:chgData name="paco humbert" userId="a6eb4eecb000ffd6" providerId="LiveId" clId="{09DE1239-541D-4ED2-A976-E0181688493A}" dt="2026-08-16T16:21:34.659" v="69" actId="27636"/>
        <pc:sldMkLst>
          <pc:docMk/>
          <pc:sldMk cId="635601283" sldId="274"/>
        </pc:sldMkLst>
        <pc:spChg chg="mod">
          <ac:chgData name="paco humbert" userId="a6eb4eecb000ffd6" providerId="LiveId" clId="{09DE1239-541D-4ED2-A976-E0181688493A}" dt="2026-08-16T16:21:34.659" v="69" actId="27636"/>
          <ac:spMkLst>
            <pc:docMk/>
            <pc:sldMk cId="635601283" sldId="274"/>
            <ac:spMk id="25" creationId="{7B0A7FFD-5674-46C0-93E9-A53D6FECC797}"/>
          </ac:spMkLst>
        </pc:spChg>
      </pc:sldChg>
      <pc:sldChg chg="modSp mod modNotesTx">
        <pc:chgData name="paco humbert" userId="a6eb4eecb000ffd6" providerId="LiveId" clId="{09DE1239-541D-4ED2-A976-E0181688493A}" dt="2026-08-16T16:21:34.663" v="71" actId="27636"/>
        <pc:sldMkLst>
          <pc:docMk/>
          <pc:sldMk cId="77975682" sldId="275"/>
        </pc:sldMkLst>
        <pc:spChg chg="mod">
          <ac:chgData name="paco humbert" userId="a6eb4eecb000ffd6" providerId="LiveId" clId="{09DE1239-541D-4ED2-A976-E0181688493A}" dt="2026-08-16T16:21:34.663" v="71" actId="27636"/>
          <ac:spMkLst>
            <pc:docMk/>
            <pc:sldMk cId="77975682" sldId="275"/>
            <ac:spMk id="10" creationId="{0BB0E7DB-AE60-4F00-8B70-544EE1419F8D}"/>
          </ac:spMkLst>
        </pc:spChg>
        <pc:spChg chg="mod">
          <ac:chgData name="paco humbert" userId="a6eb4eecb000ffd6" providerId="LiveId" clId="{09DE1239-541D-4ED2-A976-E0181688493A}" dt="2026-08-16T16:21:34.662" v="70" actId="27636"/>
          <ac:spMkLst>
            <pc:docMk/>
            <pc:sldMk cId="77975682" sldId="275"/>
            <ac:spMk id="11" creationId="{CC53ACF9-27AE-463A-B903-8E18FFB944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844A27-F4EE-C6FD-F5D9-995BBADBF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264624A-C778-5480-704F-6E7648616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FBAE33-B850-DF75-EF8E-C21BC729E8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4916A5-EB61-44A6-BEE3-540B0525987C}" type="datetimeFigureOut">
              <a:t>17/08/2026</a:t>
            </a:fld>
            <a:endParaRPr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07A942-104A-8CC3-4ADA-39C72135361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700BF7-2624-78B5-7B6F-0DBD69FA9E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>
              <a:buNone/>
            </a:pPr>
            <a:fld id="{F7021451-1387-4CA6-816F-3879F97B5CBC}" type="slidenum">
              <a:rPr b="0"/>
              <a:t>‹N°›</a:t>
            </a:fld>
            <a:endParaRPr b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AFE3EC-9592-0BDD-F120-CD0DCE9D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B8217C-BBFD-7FD0-2710-5B6A8C6C0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Cliquez pour modifier les styles du texte du masque</a:t>
            </a:r>
          </a:p>
          <a:p>
            <a:pPr>
              <a:buNone/>
            </a:pPr>
            <a:r>
              <a:t>Deuxième niveau</a:t>
            </a:r>
          </a:p>
          <a:p>
            <a:pPr>
              <a:buNone/>
            </a:pPr>
            <a:r>
              <a:t>Troisième niveau</a:t>
            </a:r>
          </a:p>
          <a:p>
            <a:pPr>
              <a:buNone/>
            </a:pPr>
            <a:r>
              <a:t>Quatrième niveau</a:t>
            </a:r>
          </a:p>
          <a:p>
            <a:pPr>
              <a:buNone/>
            </a:pPr>
            <a:r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8CCC4D-6AD7-295A-4D78-97F714B5AD2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4916A5-EB61-44A6-BEE3-540B0525987C}" type="datetimeFigureOut">
              <a:t>17/08/2026</a:t>
            </a:fld>
            <a:endParaRPr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DE01B9-47D9-6D70-1207-EE95118DA8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EA5DB4-9EB9-FCA7-2868-30318172AB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>
              <a:buNone/>
            </a:pPr>
            <a:fld id="{F7021451-1387-4CA6-816F-3879F97B5CBC}" type="slidenum">
              <a:rPr b="0"/>
              <a:t>‹N°›</a:t>
            </a:fld>
            <a:endParaRPr b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A15C09-C38B-3E30-D5DF-113273AC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581EAE-A857-37D6-7D86-592AF4BB1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3A2B77-E387-2742-D094-CE742AB3F3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4916A5-EB61-44A6-BEE3-540B0525987C}" type="datetimeFigureOut">
              <a:t>17/08/2026</a:t>
            </a:fld>
            <a:endParaRPr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2B7C0B-12A4-FCB0-CCE4-8C75B2CBE5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5872F8-D42F-AE46-7528-FCEC7E5CB4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>
              <a:buNone/>
            </a:pPr>
            <a:fld id="{F7021451-1387-4CA6-816F-3879F97B5CBC}" type="slidenum">
              <a:rPr b="0"/>
              <a:t>‹N°›</a:t>
            </a:fld>
            <a:endParaRPr b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07B4B0-6AEC-CB5D-239A-EADFE43A0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075DBF-9244-3F55-6836-37399276B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Cliquez pour modifier les styles du texte du masque</a:t>
            </a:r>
          </a:p>
          <a:p>
            <a:pPr>
              <a:buNone/>
            </a:pPr>
            <a:r>
              <a:t>Deuxième niveau</a:t>
            </a:r>
          </a:p>
          <a:p>
            <a:pPr>
              <a:buNone/>
            </a:pPr>
            <a:r>
              <a:t>Troisième niveau</a:t>
            </a:r>
          </a:p>
          <a:p>
            <a:pPr>
              <a:buNone/>
            </a:pPr>
            <a:r>
              <a:t>Quatrième niveau</a:t>
            </a:r>
          </a:p>
          <a:p>
            <a:pPr>
              <a:buNone/>
            </a:pPr>
            <a:r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AB40617-BB3A-4796-FA97-539A3508C39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Cliquez pour modifier les styles du texte du masque</a:t>
            </a:r>
          </a:p>
          <a:p>
            <a:pPr>
              <a:buNone/>
            </a:pPr>
            <a:r>
              <a:t>Deuxième niveau</a:t>
            </a:r>
          </a:p>
          <a:p>
            <a:pPr>
              <a:buNone/>
            </a:pPr>
            <a:r>
              <a:t>Troisième niveau</a:t>
            </a:r>
          </a:p>
          <a:p>
            <a:pPr>
              <a:buNone/>
            </a:pPr>
            <a:r>
              <a:t>Quatrième niveau</a:t>
            </a:r>
          </a:p>
          <a:p>
            <a:pPr>
              <a:buNone/>
            </a:pPr>
            <a:r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06B359-F4F4-07E2-AD84-38ECE97613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4916A5-EB61-44A6-BEE3-540B0525987C}" type="datetimeFigureOut">
              <a:t>17/08/2026</a:t>
            </a:fld>
            <a:endParaRPr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92C1B9-47D5-1FBE-93A8-3B24A7296C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9983D7-59A0-31A9-691A-3E0526B962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>
              <a:buNone/>
            </a:pPr>
            <a:fld id="{F7021451-1387-4CA6-816F-3879F97B5CBC}" type="slidenum">
              <a:rPr b="0"/>
              <a:t>‹N°›</a:t>
            </a:fld>
            <a:endParaRPr b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6D0DB1-5892-482E-59A9-C7613266B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176EDD-A3F2-B04B-473F-537951F2A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DE226F7-9BDD-52DE-F7ED-F624C8798BD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Cliquez pour modifier les styles du texte du masque</a:t>
            </a:r>
          </a:p>
          <a:p>
            <a:pPr>
              <a:buNone/>
            </a:pPr>
            <a:r>
              <a:t>Deuxième niveau</a:t>
            </a:r>
          </a:p>
          <a:p>
            <a:pPr>
              <a:buNone/>
            </a:pPr>
            <a:r>
              <a:t>Troisième niveau</a:t>
            </a:r>
          </a:p>
          <a:p>
            <a:pPr>
              <a:buNone/>
            </a:pPr>
            <a:r>
              <a:t>Quatrième niveau</a:t>
            </a:r>
          </a:p>
          <a:p>
            <a:pPr>
              <a:buNone/>
            </a:pPr>
            <a:r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FE048F8-AABA-0171-DB0C-5F7D3D7CEAD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1433761-C2BF-E936-F18D-DB6018FAB6D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Cliquez pour modifier les styles du texte du masque</a:t>
            </a:r>
          </a:p>
          <a:p>
            <a:pPr>
              <a:buNone/>
            </a:pPr>
            <a:r>
              <a:t>Deuxième niveau</a:t>
            </a:r>
          </a:p>
          <a:p>
            <a:pPr>
              <a:buNone/>
            </a:pPr>
            <a:r>
              <a:t>Troisième niveau</a:t>
            </a:r>
          </a:p>
          <a:p>
            <a:pPr>
              <a:buNone/>
            </a:pPr>
            <a:r>
              <a:t>Quatrième niveau</a:t>
            </a:r>
          </a:p>
          <a:p>
            <a:pPr>
              <a:buNone/>
            </a:pPr>
            <a:r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3A6486C-14A2-1E8F-BF0D-DC929489081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4916A5-EB61-44A6-BEE3-540B0525987C}" type="datetimeFigureOut">
              <a:t>17/08/2026</a:t>
            </a:fld>
            <a:endParaRPr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4112C48-0D5B-E32E-600E-8A807B0217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6F4CEAA-C585-CC70-07BF-C23E4EC729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>
              <a:buNone/>
            </a:pPr>
            <a:fld id="{F7021451-1387-4CA6-816F-3879F97B5CBC}" type="slidenum">
              <a:rPr b="0"/>
              <a:t>‹N°›</a:t>
            </a:fld>
            <a:endParaRPr b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38C20A-99DC-F68A-2F34-4CB064A78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2AABAF5-FA60-5F9B-BBCD-53CE65937F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4916A5-EB61-44A6-BEE3-540B0525987C}" type="datetimeFigureOut">
              <a:t>17/08/2026</a:t>
            </a:fld>
            <a:endParaRPr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AF0DC95-C14C-26E1-6EAB-5AF2B7CE91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095E05-F7CB-A07C-2E89-1DF4881120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>
              <a:buNone/>
            </a:pPr>
            <a:fld id="{F7021451-1387-4CA6-816F-3879F97B5CBC}" type="slidenum">
              <a:rPr b="0"/>
              <a:t>‹N°›</a:t>
            </a:fld>
            <a:endParaRPr b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3A1DDE5-2C06-2D46-FFAB-5E1915B081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4916A5-EB61-44A6-BEE3-540B0525987C}" type="datetimeFigureOut">
              <a:t>17/08/2026</a:t>
            </a:fld>
            <a:endParaRPr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85B421-1C74-F363-B484-B4EDCC7996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36E100-8244-8BD1-7544-460B2D29C9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>
              <a:buNone/>
            </a:pPr>
            <a:fld id="{F7021451-1387-4CA6-816F-3879F97B5CBC}" type="slidenum">
              <a:rPr b="0"/>
              <a:t>‹N°›</a:t>
            </a:fld>
            <a:endParaRPr b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1DD2C7-F347-C049-8B69-334618D3F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008413-8A96-8168-DD33-2DCC21253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Cliquez pour modifier les styles du texte du masque</a:t>
            </a:r>
          </a:p>
          <a:p>
            <a:pPr>
              <a:buNone/>
            </a:pPr>
            <a:r>
              <a:t>Deuxième niveau</a:t>
            </a:r>
          </a:p>
          <a:p>
            <a:pPr>
              <a:buNone/>
            </a:pPr>
            <a:r>
              <a:t>Troisième niveau</a:t>
            </a:r>
          </a:p>
          <a:p>
            <a:pPr>
              <a:buNone/>
            </a:pPr>
            <a:r>
              <a:t>Quatrième niveau</a:t>
            </a:r>
          </a:p>
          <a:p>
            <a:pPr>
              <a:buNone/>
            </a:pPr>
            <a:r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3CF283-9AD2-8D95-E571-E0FF2C2C4E8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AC8C49E-530B-0E61-4AA1-D0B6DED384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4916A5-EB61-44A6-BEE3-540B0525987C}" type="datetimeFigureOut">
              <a:t>17/08/2026</a:t>
            </a:fld>
            <a:endParaRPr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1306D7C-5ACB-1F3D-7DBC-542A2C727B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20332F-C613-92A0-528A-0C3A3A977F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>
              <a:buNone/>
            </a:pPr>
            <a:fld id="{F7021451-1387-4CA6-816F-3879F97B5CBC}" type="slidenum">
              <a:rPr b="0"/>
              <a:t>‹N°›</a:t>
            </a:fld>
            <a:endParaRPr b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805B16-CAA3-DD56-A4CB-513B2C09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72B1077-C04D-9980-5326-8A60CC1C7F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590D618-C4B1-0261-8A8C-A291FBE982F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77F974B-A9FE-86F2-3007-BEBF6076FF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4916A5-EB61-44A6-BEE3-540B0525987C}" type="datetimeFigureOut">
              <a:t>17/08/2026</a:t>
            </a:fld>
            <a:endParaRPr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852ADB7-206A-BA7F-8781-6B88451E393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EE0BA1-BBF1-7078-C1C3-1252773C08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>
              <a:buNone/>
            </a:pPr>
            <a:fld id="{F7021451-1387-4CA6-816F-3879F97B5CBC}" type="slidenum">
              <a:rPr b="0"/>
              <a:t>‹N°›</a:t>
            </a:fld>
            <a:endParaRPr b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637FA8-0213-37FE-C51A-64AEDD71A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0FF90CB-6B1B-D3A1-A2AC-07A57F061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Cliquez pour modifier les styles du texte du masque</a:t>
            </a:r>
          </a:p>
          <a:p>
            <a:pPr>
              <a:buNone/>
            </a:pPr>
            <a:r>
              <a:t>Deuxième niveau</a:t>
            </a:r>
          </a:p>
          <a:p>
            <a:pPr>
              <a:buNone/>
            </a:pPr>
            <a:r>
              <a:t>Troisième niveau</a:t>
            </a:r>
          </a:p>
          <a:p>
            <a:pPr>
              <a:buNone/>
            </a:pPr>
            <a:r>
              <a:t>Quatrième niveau</a:t>
            </a:r>
          </a:p>
          <a:p>
            <a:pPr>
              <a:buNone/>
            </a:pPr>
            <a:r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E192AE-E1C9-6C27-7C87-5E7E567246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4916A5-EB61-44A6-BEE3-540B0525987C}" type="datetimeFigureOut">
              <a:t>17/08/2026</a:t>
            </a:fld>
            <a:endParaRPr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A32545-A983-9379-3BD3-717F4A77AEE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9560D2-9EBC-2DC7-AE52-FF70D70BBB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>
              <a:buNone/>
            </a:pPr>
            <a:fld id="{F7021451-1387-4CA6-816F-3879F97B5CBC}" type="slidenum">
              <a:rPr b="0"/>
              <a:t>‹N°›</a:t>
            </a:fld>
            <a:endParaRPr b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B429B81-17E8-E3E8-FC40-44FFF75BC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49FA3C4-0126-60D2-A6B7-62B4FBEF0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Cliquez pour modifier les styles du texte du masque</a:t>
            </a:r>
          </a:p>
          <a:p>
            <a:pPr>
              <a:buNone/>
            </a:pPr>
            <a:r>
              <a:t>Deuxième niveau</a:t>
            </a:r>
          </a:p>
          <a:p>
            <a:pPr>
              <a:buNone/>
            </a:pPr>
            <a:r>
              <a:t>Troisième niveau</a:t>
            </a:r>
          </a:p>
          <a:p>
            <a:pPr>
              <a:buNone/>
            </a:pPr>
            <a:r>
              <a:t>Quatrième niveau</a:t>
            </a:r>
          </a:p>
          <a:p>
            <a:pPr>
              <a:buNone/>
            </a:pPr>
            <a:r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98781F-389A-782B-5C51-EE316F00B1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4916A5-EB61-44A6-BEE3-540B0525987C}" type="datetimeFigureOut">
              <a:t>17/08/2026</a:t>
            </a:fld>
            <a:endParaRPr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497F39-40FE-9F68-D377-C4AEA9DECA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5CF86C-B65C-5A10-0908-6F833E2F52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>
              <a:buNone/>
            </a:pPr>
            <a:fld id="{F7021451-1387-4CA6-816F-3879F97B5CBC}" type="slidenum">
              <a:rPr b="0"/>
              <a:t>‹N°›</a:t>
            </a:fld>
            <a:endParaRPr b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940EFD9-4B71-40CB-9EEC-6C20B51DC86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‹N°›</a:t>
            </a:fld>
            <a:endParaRPr b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851E98A-DB13-9FC6-2294-6039734CD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13C696-7A63-78E8-6B66-C024C7D29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Cliquez pour modifier les styles du texte du masque</a:t>
            </a:r>
          </a:p>
          <a:p>
            <a:pPr>
              <a:buNone/>
            </a:pPr>
            <a:r>
              <a:t>Deuxième niveau</a:t>
            </a:r>
          </a:p>
          <a:p>
            <a:pPr>
              <a:buNone/>
            </a:pPr>
            <a:r>
              <a:t>Troisième niveau</a:t>
            </a:r>
          </a:p>
          <a:p>
            <a:pPr>
              <a:buNone/>
            </a:pPr>
            <a:r>
              <a:t>Quatrième niveau</a:t>
            </a:r>
          </a:p>
          <a:p>
            <a:pPr>
              <a:buNone/>
            </a:pPr>
            <a:r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4EDB41-48E8-FE97-2FFC-27C8B93DFDC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916A5-EB61-44A6-BEE3-540B0525987C}" type="datetimeFigureOut">
              <a:t>17/08/2026</a:t>
            </a:fld>
            <a:endParaRPr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B7CAFA-A041-D1F0-1274-B2AD9157AB9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377CE2-C83E-1430-B690-9D3D836643F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‹N°›</a:t>
            </a:fld>
            <a:endParaRPr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0C9DF8-A636-460D-9D60-A60A8471B184}"/>
              </a:ext>
            </a:extLst>
          </p:cNvPr>
          <p:cNvSpPr>
            <a:spLocks noGrp="1"/>
          </p:cNvSpPr>
          <p:nvPr/>
        </p:nvSpPr>
        <p:spPr>
          <a:xfrm>
            <a:off x="658368" y="914400"/>
            <a:ext cx="868680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FFFFF"/>
                </a:solidFill>
              </a:rPr>
              <a:t>Valorisation et classification du portefeuille immobilier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1095DA-F85D-4A65-95B8-E8E187166D9A}"/>
              </a:ext>
            </a:extLst>
          </p:cNvPr>
          <p:cNvSpPr>
            <a:spLocks noGrp="1"/>
          </p:cNvSpPr>
          <p:nvPr/>
        </p:nvSpPr>
        <p:spPr>
          <a:xfrm>
            <a:off x="658368" y="164592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FF7200"/>
                </a:solidFill>
              </a:rPr>
              <a:t>Les Plus Beaux Logis de Paris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F629FE-75D8-4757-A0DD-4F30D33EA613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EDEAE2"/>
                </a:solidFill>
              </a:rPr>
              <a:t>Présentation CODIR — Projet 8 BI Analyst OpenClassrooms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1957B7-6B8C-495B-BB10-3732A1D9FF1F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D8D2C5"/>
                </a:solidFill>
              </a:rPr>
              <a:t>Paco Humbert</a:t>
            </a:r>
          </a:p>
        </p:txBody>
      </p:sp>
      <p:pic>
        <p:nvPicPr>
          <p:cNvPr id="15" name="Imag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81143"/>
            <a:ext cx="1640152" cy="8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1C5C49-8573-4D73-9FBF-F76DAF5014BD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CONTEXTE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CE20CC-0C78-4D60-AFD0-11F773AF4D1B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Objectif de la mission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BD80D4-DB51-45D2-9849-722C15E7C9F7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EBF31E-D2AB-48DE-A3A9-D58F7CDC4521}"/>
              </a:ext>
            </a:extLst>
          </p:cNvPr>
          <p:cNvSpPr>
            <a:spLocks noGrp="1"/>
          </p:cNvSpPr>
          <p:nvPr/>
        </p:nvSpPr>
        <p:spPr>
          <a:xfrm>
            <a:off x="731520" y="1837944"/>
            <a:ext cx="10424160" cy="502920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 fontScale="86630" lnSpcReduction="20000"/>
          </a:bodyPr>
          <a:lstStyle/>
          <a:p>
            <a:pPr marL="0" indent="0">
              <a:buNone/>
            </a:pPr>
            <a:r>
              <a:rPr sz="2300" b="1">
                <a:solidFill>
                  <a:srgbClr val="1E2A36"/>
                </a:solidFill>
              </a:rPr>
              <a:t>Analyser le marché immobilier parisien, prédire la valeur du portefeuille au 31/12/2022 et classer les biens transmis.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5EB8DBA-32D8-4F44-BB26-9B2636F67E3E}"/>
              </a:ext>
            </a:extLst>
          </p:cNvPr>
          <p:cNvSpPr>
            <a:spLocks noGrp="1"/>
          </p:cNvSpPr>
          <p:nvPr/>
        </p:nvSpPr>
        <p:spPr>
          <a:xfrm>
            <a:off x="803950" y="2995382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33A5B6"/>
                </a:solidFill>
              </a:rPr>
              <a:t>ATTENDU DU PROJET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4A2639B-EA06-44F1-86BD-076FF300D6B8}"/>
              </a:ext>
            </a:extLst>
          </p:cNvPr>
          <p:cNvSpPr>
            <a:spLocks noGrp="1"/>
          </p:cNvSpPr>
          <p:nvPr/>
        </p:nvSpPr>
        <p:spPr>
          <a:xfrm>
            <a:off x="822960" y="3288471"/>
            <a:ext cx="4297680" cy="0"/>
          </a:xfrm>
          <a:prstGeom prst="line">
            <a:avLst/>
          </a:prstGeom>
          <a:noFill/>
          <a:ln w="1524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E20635-AEA9-416C-A795-D53911B36F09}"/>
              </a:ext>
            </a:extLst>
          </p:cNvPr>
          <p:cNvSpPr>
            <a:spLocks noGrp="1"/>
          </p:cNvSpPr>
          <p:nvPr/>
        </p:nvSpPr>
        <p:spPr>
          <a:xfrm>
            <a:off x="822960" y="3633296"/>
            <a:ext cx="5120640" cy="201168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600">
                <a:solidFill>
                  <a:srgbClr val="171A1F"/>
                </a:solidFill>
              </a:rPr>
              <a:t>Analyser cinq années de transactions parisiennes.</a:t>
            </a:r>
          </a:p>
          <a:p>
            <a:endParaRPr sz="1600">
              <a:solidFill>
                <a:srgbClr val="171A1F"/>
              </a:solidFill>
            </a:endParaRPr>
          </a:p>
          <a:p>
            <a:r>
              <a:rPr sz="1600">
                <a:solidFill>
                  <a:srgbClr val="171A1F"/>
                </a:solidFill>
              </a:rPr>
              <a:t>Entraîner et évaluer une régression linéaire.</a:t>
            </a:r>
          </a:p>
          <a:p>
            <a:endParaRPr sz="1600">
              <a:solidFill>
                <a:srgbClr val="171A1F"/>
              </a:solidFill>
            </a:endParaRPr>
          </a:p>
          <a:p>
            <a:r>
              <a:rPr sz="1600">
                <a:solidFill>
                  <a:srgbClr val="171A1F"/>
                </a:solidFill>
              </a:rPr>
              <a:t>Produire une valorisation et une classification exploitables.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FCAB9AF-5375-481C-B2B3-B818D63A77F6}"/>
              </a:ext>
            </a:extLst>
          </p:cNvPr>
          <p:cNvSpPr>
            <a:spLocks noGrp="1"/>
          </p:cNvSpPr>
          <p:nvPr/>
        </p:nvSpPr>
        <p:spPr>
          <a:xfrm>
            <a:off x="6446520" y="2995382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33A5B6"/>
                </a:solidFill>
              </a:rPr>
              <a:t>ANGLE DIRECTION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07366F8-45F0-49D1-84B6-9150AA3B2C74}"/>
              </a:ext>
            </a:extLst>
          </p:cNvPr>
          <p:cNvSpPr>
            <a:spLocks noGrp="1"/>
          </p:cNvSpPr>
          <p:nvPr/>
        </p:nvSpPr>
        <p:spPr>
          <a:xfrm>
            <a:off x="6446520" y="3292321"/>
            <a:ext cx="4389120" cy="0"/>
          </a:xfrm>
          <a:prstGeom prst="line">
            <a:avLst/>
          </a:prstGeom>
          <a:noFill/>
          <a:ln w="1524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03C0061-915E-4AB5-8D24-0ECE481EEA75}"/>
              </a:ext>
            </a:extLst>
          </p:cNvPr>
          <p:cNvSpPr>
            <a:spLocks noGrp="1"/>
          </p:cNvSpPr>
          <p:nvPr/>
        </p:nvSpPr>
        <p:spPr>
          <a:xfrm>
            <a:off x="6446520" y="3639312"/>
            <a:ext cx="4754880" cy="201168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600">
                <a:solidFill>
                  <a:srgbClr val="171A1F"/>
                </a:solidFill>
              </a:rPr>
              <a:t>Passer rapidement des données aux résultats.</a:t>
            </a:r>
          </a:p>
          <a:p>
            <a:endParaRPr sz="1600">
              <a:solidFill>
                <a:srgbClr val="171A1F"/>
              </a:solidFill>
            </a:endParaRPr>
          </a:p>
          <a:p>
            <a:r>
              <a:rPr sz="1600">
                <a:solidFill>
                  <a:srgbClr val="171A1F"/>
                </a:solidFill>
              </a:rPr>
              <a:t>Distinguer évaluation avec split et modèle final sans split.</a:t>
            </a:r>
          </a:p>
          <a:p>
            <a:endParaRPr sz="1600">
              <a:solidFill>
                <a:srgbClr val="171A1F"/>
              </a:solidFill>
            </a:endParaRPr>
          </a:p>
          <a:p>
            <a:r>
              <a:rPr sz="1600">
                <a:solidFill>
                  <a:srgbClr val="171A1F"/>
                </a:solidFill>
              </a:rPr>
              <a:t>Conclure par des décisions et des précautions d’usage.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9E0910A-BEFE-47C1-9382-67A5A752971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E2598689-54C9-18A7-3A19-ED76AA08988F}" type="slidenum">
              <a:rPr b="0"/>
              <a:t>2</a:t>
            </a:fld>
            <a:endParaRPr b="0"/>
          </a:p>
        </p:txBody>
      </p:sp>
      <p:pic>
        <p:nvPicPr>
          <p:cNvPr id="38" name="Imag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88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BC1CFF-AE87-4499-BA2D-4AD04E72DF52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SYNTHÈSE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6ACE37-DF15-45A9-87D0-32FB1B1AAE0F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Message exécutif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CACB6ED-4794-4CCB-ABBB-C92B5904348D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73E3AF1-A7BD-406D-BB18-8435CE060066}"/>
              </a:ext>
            </a:extLst>
          </p:cNvPr>
          <p:cNvSpPr>
            <a:spLocks noGrp="1"/>
          </p:cNvSpPr>
          <p:nvPr/>
        </p:nvSpPr>
        <p:spPr>
          <a:xfrm>
            <a:off x="822960" y="2020938"/>
            <a:ext cx="11582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buNone/>
            </a:pPr>
            <a:r>
              <a:rPr sz="2800" b="1" dirty="0">
                <a:solidFill>
                  <a:srgbClr val="FF7200"/>
                </a:solidFill>
              </a:rPr>
              <a:t>9,05 %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534FA0-063A-4621-95AF-7C72B7E4B107}"/>
              </a:ext>
            </a:extLst>
          </p:cNvPr>
          <p:cNvSpPr>
            <a:spLocks noGrp="1"/>
          </p:cNvSpPr>
          <p:nvPr/>
        </p:nvSpPr>
        <p:spPr>
          <a:xfrm>
            <a:off x="822960" y="2551290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buNone/>
            </a:pPr>
            <a:r>
              <a:rPr sz="1100" dirty="0" err="1">
                <a:solidFill>
                  <a:srgbClr val="655F57"/>
                </a:solidFill>
              </a:rPr>
              <a:t>Erreur</a:t>
            </a:r>
            <a:r>
              <a:rPr sz="1100" dirty="0">
                <a:solidFill>
                  <a:srgbClr val="655F57"/>
                </a:solidFill>
              </a:rPr>
              <a:t> </a:t>
            </a:r>
            <a:r>
              <a:rPr sz="1100" dirty="0" err="1">
                <a:solidFill>
                  <a:srgbClr val="655F57"/>
                </a:solidFill>
              </a:rPr>
              <a:t>moyenne</a:t>
            </a:r>
            <a:r>
              <a:rPr sz="1100" dirty="0">
                <a:solidFill>
                  <a:srgbClr val="655F57"/>
                </a:solidFill>
              </a:rPr>
              <a:t> sur le jeu de test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8C1545-D471-4AC4-96C7-B5A34E8B9D33}"/>
              </a:ext>
            </a:extLst>
          </p:cNvPr>
          <p:cNvSpPr>
            <a:spLocks noGrp="1"/>
          </p:cNvSpPr>
          <p:nvPr/>
        </p:nvSpPr>
        <p:spPr>
          <a:xfrm>
            <a:off x="3916680" y="2020036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just"/>
            <a:r>
              <a:rPr sz="2800" b="1" dirty="0">
                <a:solidFill>
                  <a:srgbClr val="C00000"/>
                </a:solidFill>
              </a:rPr>
              <a:t>168,75 M€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B7BC481-6DC2-4252-8EE1-578115019444}"/>
              </a:ext>
            </a:extLst>
          </p:cNvPr>
          <p:cNvSpPr>
            <a:spLocks noGrp="1"/>
          </p:cNvSpPr>
          <p:nvPr/>
        </p:nvSpPr>
        <p:spPr>
          <a:xfrm>
            <a:off x="3916680" y="255038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buNone/>
            </a:pPr>
            <a:r>
              <a:rPr sz="1100">
                <a:solidFill>
                  <a:srgbClr val="655F57"/>
                </a:solidFill>
              </a:rPr>
              <a:t>Valeur finale du portefeuille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8D2DDD4-76F2-482A-B970-BF89CC0E26CF}"/>
              </a:ext>
            </a:extLst>
          </p:cNvPr>
          <p:cNvSpPr>
            <a:spLocks noGrp="1"/>
          </p:cNvSpPr>
          <p:nvPr/>
        </p:nvSpPr>
        <p:spPr>
          <a:xfrm>
            <a:off x="6888480" y="2020036"/>
            <a:ext cx="11582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buNone/>
            </a:pPr>
            <a:r>
              <a:rPr sz="2800" b="1" dirty="0">
                <a:solidFill>
                  <a:srgbClr val="B88735"/>
                </a:solidFill>
              </a:rPr>
              <a:t>0,982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C435B4B-389D-4BC1-ADDA-138AE8D3A166}"/>
              </a:ext>
            </a:extLst>
          </p:cNvPr>
          <p:cNvSpPr>
            <a:spLocks noGrp="1"/>
          </p:cNvSpPr>
          <p:nvPr/>
        </p:nvSpPr>
        <p:spPr>
          <a:xfrm>
            <a:off x="6888480" y="2550388"/>
            <a:ext cx="1158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buNone/>
            </a:pPr>
            <a:r>
              <a:rPr sz="1100" dirty="0">
                <a:solidFill>
                  <a:srgbClr val="655F57"/>
                </a:solidFill>
              </a:rPr>
              <a:t>Coefficient R²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18E23EB-40BD-43F3-9B91-CBC4A4A497BF}"/>
              </a:ext>
            </a:extLst>
          </p:cNvPr>
          <p:cNvSpPr>
            <a:spLocks noGrp="1"/>
          </p:cNvSpPr>
          <p:nvPr/>
        </p:nvSpPr>
        <p:spPr>
          <a:xfrm>
            <a:off x="9006840" y="2020938"/>
            <a:ext cx="16052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buNone/>
            </a:pPr>
            <a:r>
              <a:rPr sz="2800" b="1" dirty="0">
                <a:solidFill>
                  <a:srgbClr val="3E8E5B"/>
                </a:solidFill>
              </a:rPr>
              <a:t>0,909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3F871B0-CDBF-42BA-9DFE-A514216C6329}"/>
              </a:ext>
            </a:extLst>
          </p:cNvPr>
          <p:cNvSpPr>
            <a:spLocks noGrp="1"/>
          </p:cNvSpPr>
          <p:nvPr/>
        </p:nvSpPr>
        <p:spPr>
          <a:xfrm>
            <a:off x="9006840" y="2551290"/>
            <a:ext cx="16052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just">
              <a:buNone/>
            </a:pPr>
            <a:r>
              <a:rPr sz="1100" dirty="0">
                <a:solidFill>
                  <a:srgbClr val="655F57"/>
                </a:solidFill>
              </a:rPr>
              <a:t>Score silhouette K-means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C36CDB8-0B61-43CF-BA82-74F62BC2D6FA}"/>
              </a:ext>
            </a:extLst>
          </p:cNvPr>
          <p:cNvSpPr>
            <a:spLocks noGrp="1"/>
          </p:cNvSpPr>
          <p:nvPr/>
        </p:nvSpPr>
        <p:spPr>
          <a:xfrm>
            <a:off x="822960" y="3730980"/>
            <a:ext cx="10424160" cy="230124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dirty="0"/>
              <a:t>Le </a:t>
            </a: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évalué</a:t>
            </a:r>
            <a:r>
              <a:rPr dirty="0"/>
              <a:t> </a:t>
            </a:r>
            <a:r>
              <a:rPr dirty="0" err="1"/>
              <a:t>respecte</a:t>
            </a:r>
            <a:r>
              <a:rPr dirty="0"/>
              <a:t> </a:t>
            </a:r>
            <a:r>
              <a:rPr dirty="0" err="1"/>
              <a:t>l’objectif</a:t>
            </a:r>
            <a:r>
              <a:rPr dirty="0"/>
              <a:t> </a:t>
            </a:r>
            <a:r>
              <a:rPr dirty="0" err="1"/>
              <a:t>inférieur</a:t>
            </a:r>
            <a:r>
              <a:rPr dirty="0"/>
              <a:t> à 10 % </a:t>
            </a:r>
            <a:r>
              <a:rPr dirty="0" err="1"/>
              <a:t>d’erreur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Le </a:t>
            </a:r>
            <a:r>
              <a:rPr dirty="0" err="1"/>
              <a:t>modèle</a:t>
            </a:r>
            <a:r>
              <a:rPr dirty="0"/>
              <a:t> final est </a:t>
            </a:r>
            <a:r>
              <a:rPr dirty="0" err="1"/>
              <a:t>réentraîné</a:t>
            </a:r>
            <a:r>
              <a:rPr dirty="0"/>
              <a:t> sans split sur les 26 180 transactions avant </a:t>
            </a:r>
            <a:r>
              <a:rPr dirty="0" err="1"/>
              <a:t>valorisation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Le segment corporate </a:t>
            </a:r>
            <a:r>
              <a:rPr dirty="0" err="1"/>
              <a:t>représente</a:t>
            </a:r>
            <a:r>
              <a:rPr dirty="0"/>
              <a:t> 97,53 M€, </a:t>
            </a:r>
            <a:r>
              <a:rPr dirty="0" err="1"/>
              <a:t>contre</a:t>
            </a:r>
            <a:r>
              <a:rPr dirty="0"/>
              <a:t> 71,22 M€ pour les appartements.</a:t>
            </a:r>
          </a:p>
          <a:p>
            <a:endParaRPr dirty="0"/>
          </a:p>
          <a:p>
            <a:r>
              <a:rPr dirty="0"/>
              <a:t>La classification est </a:t>
            </a:r>
            <a:r>
              <a:rPr dirty="0" err="1"/>
              <a:t>nette</a:t>
            </a:r>
            <a:r>
              <a:rPr dirty="0"/>
              <a:t> : 16 </a:t>
            </a:r>
            <a:r>
              <a:rPr dirty="0" err="1"/>
              <a:t>biens</a:t>
            </a:r>
            <a:r>
              <a:rPr dirty="0"/>
              <a:t> </a:t>
            </a:r>
            <a:r>
              <a:rPr dirty="0" err="1"/>
              <a:t>retrouvés</a:t>
            </a:r>
            <a:r>
              <a:rPr dirty="0"/>
              <a:t> dans </a:t>
            </a:r>
            <a:r>
              <a:rPr dirty="0" err="1"/>
              <a:t>l’historique</a:t>
            </a:r>
            <a:r>
              <a:rPr dirty="0"/>
              <a:t> et 16 concordances.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E649699-41DE-4533-BDF5-A0E70A11540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202359C0-8A7A-196E-DD58-8E6569619F09}" type="slidenum">
              <a:rPr b="0"/>
              <a:t>3</a:t>
            </a:fld>
            <a:endParaRPr b="0"/>
          </a:p>
        </p:txBody>
      </p:sp>
      <p:pic>
        <p:nvPicPr>
          <p:cNvPr id="40" name="Imag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65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5BA70A-7890-4522-8419-89BECF016CC9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PÉRIMÈTRE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545178-4EE9-432E-9107-74347D747A1C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Données utilisées et rôle de chaque fichier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0AF4DA9-905B-418F-A38A-6AAA9630C918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29F628-8C7A-4236-910C-570CDF31657E}"/>
              </a:ext>
            </a:extLst>
          </p:cNvPr>
          <p:cNvSpPr>
            <a:spLocks noGrp="1"/>
          </p:cNvSpPr>
          <p:nvPr/>
        </p:nvSpPr>
        <p:spPr>
          <a:xfrm>
            <a:off x="813816" y="1645920"/>
            <a:ext cx="175564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 b="1">
                <a:latin typeface="Aptos"/>
                <a:ea typeface="Aptos"/>
                <a:cs typeface="Aptos"/>
              </a:rPr>
              <a:t>Fichier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FA2E0A1-5B14-4527-B173-8FDC5B68B541}"/>
              </a:ext>
            </a:extLst>
          </p:cNvPr>
          <p:cNvSpPr>
            <a:spLocks noGrp="1"/>
          </p:cNvSpPr>
          <p:nvPr/>
        </p:nvSpPr>
        <p:spPr>
          <a:xfrm>
            <a:off x="2642616" y="1645920"/>
            <a:ext cx="577900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 b="1">
                <a:latin typeface="Aptos"/>
                <a:ea typeface="Aptos"/>
                <a:cs typeface="Aptos"/>
              </a:rPr>
              <a:t>Rôle dans l’analyse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6A74D39-2290-4472-AEAA-79FABD625243}"/>
              </a:ext>
            </a:extLst>
          </p:cNvPr>
          <p:cNvSpPr>
            <a:spLocks noGrp="1"/>
          </p:cNvSpPr>
          <p:nvPr/>
        </p:nvSpPr>
        <p:spPr>
          <a:xfrm>
            <a:off x="8494776" y="1645920"/>
            <a:ext cx="294436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 b="1">
                <a:latin typeface="Aptos"/>
                <a:ea typeface="Aptos"/>
                <a:cs typeface="Aptos"/>
              </a:rPr>
              <a:t>Volume / point clé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0F90287-1F0D-4BA6-86E9-DF7AC84F7D3E}"/>
              </a:ext>
            </a:extLst>
          </p:cNvPr>
          <p:cNvSpPr>
            <a:spLocks noGrp="1"/>
          </p:cNvSpPr>
          <p:nvPr/>
        </p:nvSpPr>
        <p:spPr>
          <a:xfrm>
            <a:off x="777240" y="2114550"/>
            <a:ext cx="10698480" cy="0"/>
          </a:xfrm>
          <a:prstGeom prst="line">
            <a:avLst/>
          </a:prstGeom>
          <a:noFill/>
          <a:ln w="13970">
            <a:solidFill>
              <a:srgbClr val="1E2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D6642AE-598D-4276-B38C-B3001A43DED0}"/>
              </a:ext>
            </a:extLst>
          </p:cNvPr>
          <p:cNvSpPr>
            <a:spLocks noGrp="1"/>
          </p:cNvSpPr>
          <p:nvPr/>
        </p:nvSpPr>
        <p:spPr>
          <a:xfrm>
            <a:off x="813816" y="2160270"/>
            <a:ext cx="175564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Historique 2017–2021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E14A20D-6CF2-4523-8C0C-5677A52434F9}"/>
              </a:ext>
            </a:extLst>
          </p:cNvPr>
          <p:cNvSpPr>
            <a:spLocks noGrp="1"/>
          </p:cNvSpPr>
          <p:nvPr/>
        </p:nvSpPr>
        <p:spPr>
          <a:xfrm>
            <a:off x="2642616" y="2160270"/>
            <a:ext cx="577900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Apprentissage, analyse du marché et tests de Pearson.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608B982-9B0D-482D-B71A-A7ECB562D251}"/>
              </a:ext>
            </a:extLst>
          </p:cNvPr>
          <p:cNvSpPr>
            <a:spLocks noGrp="1"/>
          </p:cNvSpPr>
          <p:nvPr/>
        </p:nvSpPr>
        <p:spPr>
          <a:xfrm>
            <a:off x="8494776" y="2160270"/>
            <a:ext cx="294436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26 180 transactions nettoyées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5F3CF79-F2BF-47CD-89AA-021C460723B7}"/>
              </a:ext>
            </a:extLst>
          </p:cNvPr>
          <p:cNvSpPr>
            <a:spLocks noGrp="1"/>
          </p:cNvSpPr>
          <p:nvPr/>
        </p:nvSpPr>
        <p:spPr>
          <a:xfrm>
            <a:off x="777240" y="2628900"/>
            <a:ext cx="106984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C367302-44D7-4BD5-A293-5E15181C3DC8}"/>
              </a:ext>
            </a:extLst>
          </p:cNvPr>
          <p:cNvSpPr>
            <a:spLocks noGrp="1"/>
          </p:cNvSpPr>
          <p:nvPr/>
        </p:nvSpPr>
        <p:spPr>
          <a:xfrm>
            <a:off x="813816" y="2674620"/>
            <a:ext cx="175564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Portefeuille 2022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C494D37-4D13-4A4B-BB28-25F539A0FF09}"/>
              </a:ext>
            </a:extLst>
          </p:cNvPr>
          <p:cNvSpPr>
            <a:spLocks noGrp="1"/>
          </p:cNvSpPr>
          <p:nvPr/>
        </p:nvSpPr>
        <p:spPr>
          <a:xfrm>
            <a:off x="2642616" y="2674620"/>
            <a:ext cx="577900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Actifs à valoriser avec le modèle final sans split.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24B887A-EE4D-4347-AFD0-B1B176E71BD0}"/>
              </a:ext>
            </a:extLst>
          </p:cNvPr>
          <p:cNvSpPr>
            <a:spLocks noGrp="1"/>
          </p:cNvSpPr>
          <p:nvPr/>
        </p:nvSpPr>
        <p:spPr>
          <a:xfrm>
            <a:off x="8494776" y="2674620"/>
            <a:ext cx="294436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273 biens après nettoyage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F3CB951-821A-4604-ACC6-F40B4A92FAFB}"/>
              </a:ext>
            </a:extLst>
          </p:cNvPr>
          <p:cNvSpPr>
            <a:spLocks noGrp="1"/>
          </p:cNvSpPr>
          <p:nvPr/>
        </p:nvSpPr>
        <p:spPr>
          <a:xfrm>
            <a:off x="777240" y="3143250"/>
            <a:ext cx="106984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E7C2DD1-42B4-4484-9D9B-B75D39DBB262}"/>
              </a:ext>
            </a:extLst>
          </p:cNvPr>
          <p:cNvSpPr>
            <a:spLocks noGrp="1"/>
          </p:cNvSpPr>
          <p:nvPr/>
        </p:nvSpPr>
        <p:spPr>
          <a:xfrm>
            <a:off x="813816" y="3188970"/>
            <a:ext cx="175564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Échantillon K-means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E24F1CE-8744-48CE-9BAC-0F1C43060AE6}"/>
              </a:ext>
            </a:extLst>
          </p:cNvPr>
          <p:cNvSpPr>
            <a:spLocks noGrp="1"/>
          </p:cNvSpPr>
          <p:nvPr/>
        </p:nvSpPr>
        <p:spPr>
          <a:xfrm>
            <a:off x="2642616" y="3188970"/>
            <a:ext cx="577900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Biens non labellisés à répartir en deux groupes.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B67CB60-8569-4D5F-8557-C74488CE63E7}"/>
              </a:ext>
            </a:extLst>
          </p:cNvPr>
          <p:cNvSpPr>
            <a:spLocks noGrp="1"/>
          </p:cNvSpPr>
          <p:nvPr/>
        </p:nvSpPr>
        <p:spPr>
          <a:xfrm>
            <a:off x="8494776" y="3188970"/>
            <a:ext cx="294436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40 biens du 19e arrondissement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A09E78C-7082-4B2E-A76B-63AF6D9B49F6}"/>
              </a:ext>
            </a:extLst>
          </p:cNvPr>
          <p:cNvSpPr>
            <a:spLocks noGrp="1"/>
          </p:cNvSpPr>
          <p:nvPr/>
        </p:nvSpPr>
        <p:spPr>
          <a:xfrm>
            <a:off x="777240" y="3657600"/>
            <a:ext cx="106984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6AEA967-BDE1-4E8F-A723-AF7807E3E9DA}"/>
              </a:ext>
            </a:extLst>
          </p:cNvPr>
          <p:cNvSpPr>
            <a:spLocks noGrp="1"/>
          </p:cNvSpPr>
          <p:nvPr/>
        </p:nvSpPr>
        <p:spPr>
          <a:xfrm>
            <a:off x="868680" y="4400169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33A5B6"/>
                </a:solidFill>
              </a:rPr>
              <a:t>ENJEU DU MODÈLE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8E14B86-0EB9-4B01-B4AA-EAE6B554AA15}"/>
              </a:ext>
            </a:extLst>
          </p:cNvPr>
          <p:cNvSpPr>
            <a:spLocks noGrp="1"/>
          </p:cNvSpPr>
          <p:nvPr/>
        </p:nvSpPr>
        <p:spPr>
          <a:xfrm>
            <a:off x="868680" y="4693158"/>
            <a:ext cx="4937760" cy="0"/>
          </a:xfrm>
          <a:prstGeom prst="line">
            <a:avLst/>
          </a:prstGeom>
          <a:noFill/>
          <a:ln w="1524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2559673-9C0A-4710-A9A7-06030736DE12}"/>
              </a:ext>
            </a:extLst>
          </p:cNvPr>
          <p:cNvSpPr>
            <a:spLocks noGrp="1"/>
          </p:cNvSpPr>
          <p:nvPr/>
        </p:nvSpPr>
        <p:spPr>
          <a:xfrm>
            <a:off x="813816" y="5298947"/>
            <a:ext cx="10241280" cy="822960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/>
          </a:bodyPr>
          <a:lstStyle/>
          <a:p>
            <a:r>
              <a:rPr sz="1600" b="1"/>
              <a:t>Séparer clairement le modèle évalué avec train/test split du modèle final réentraîné sur tout l’historique pour la valorisation.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868A28E-B7DB-4D7A-BEA8-7670A01686E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EFD6AB9A-5F9E-5F59-51AB-3C8734130965}" type="slidenum">
              <a:rPr b="0"/>
              <a:t>4</a:t>
            </a:fld>
            <a:endParaRPr b="0"/>
          </a:p>
        </p:txBody>
      </p:sp>
      <p:pic>
        <p:nvPicPr>
          <p:cNvPr id="50" name="Imag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32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B98F05-D554-4179-9AEB-02D94B8EE370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TENDANCE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6388D6-D126-4261-89FB-0ED5D2D52A8F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Les appartements gagnent 10 % en cinq ans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D15C86A-F492-4E77-BF73-AA083A1C831F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F1255E-D94D-4731-9A1A-CB5B83F5143C}"/>
              </a:ext>
            </a:extLst>
          </p:cNvPr>
          <p:cNvSpPr>
            <a:spLocks noGrp="1"/>
          </p:cNvSpPr>
          <p:nvPr/>
        </p:nvSpPr>
        <p:spPr>
          <a:xfrm>
            <a:off x="929640" y="1480374"/>
            <a:ext cx="3840480" cy="320040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/>
          </a:bodyPr>
          <a:lstStyle/>
          <a:p>
            <a:pPr marL="0" indent="0">
              <a:buNone/>
            </a:pPr>
            <a:r>
              <a:rPr sz="1500" i="1" dirty="0" err="1">
                <a:solidFill>
                  <a:srgbClr val="655F57"/>
                </a:solidFill>
              </a:rPr>
              <a:t>Évolution</a:t>
            </a:r>
            <a:r>
              <a:rPr sz="1500" i="1" dirty="0">
                <a:solidFill>
                  <a:srgbClr val="655F57"/>
                </a:solidFill>
              </a:rPr>
              <a:t> 2017 → 2021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A0772ED-D9E6-4E42-BB95-D5C3D4D2AE03}"/>
              </a:ext>
            </a:extLst>
          </p:cNvPr>
          <p:cNvSpPr>
            <a:spLocks noGrp="1"/>
          </p:cNvSpPr>
          <p:nvPr/>
        </p:nvSpPr>
        <p:spPr>
          <a:xfrm>
            <a:off x="929640" y="2304543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 dirty="0">
                <a:solidFill>
                  <a:srgbClr val="FF7200"/>
                </a:solidFill>
              </a:rPr>
              <a:t>+10,</a:t>
            </a:r>
            <a:r>
              <a:rPr lang="fr-FR" sz="2800" b="1" dirty="0">
                <a:solidFill>
                  <a:srgbClr val="FF7200"/>
                </a:solidFill>
              </a:rPr>
              <a:t>1</a:t>
            </a:r>
            <a:r>
              <a:rPr sz="2800" b="1" dirty="0">
                <a:solidFill>
                  <a:srgbClr val="FF7200"/>
                </a:solidFill>
              </a:rPr>
              <a:t> %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E01394D-A1A5-43BD-9679-676896D35C45}"/>
              </a:ext>
            </a:extLst>
          </p:cNvPr>
          <p:cNvSpPr>
            <a:spLocks noGrp="1"/>
          </p:cNvSpPr>
          <p:nvPr/>
        </p:nvSpPr>
        <p:spPr>
          <a:xfrm>
            <a:off x="3426460" y="2382271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fr-FR" sz="1100" dirty="0"/>
              <a:t>hausse sur 5 ans</a:t>
            </a:r>
            <a:endParaRPr sz="1100" dirty="0">
              <a:solidFill>
                <a:srgbClr val="655F57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B849161-F59D-4F7C-A858-4F7E7658EAE3}"/>
              </a:ext>
            </a:extLst>
          </p:cNvPr>
          <p:cNvSpPr>
            <a:spLocks noGrp="1"/>
          </p:cNvSpPr>
          <p:nvPr/>
        </p:nvSpPr>
        <p:spPr>
          <a:xfrm>
            <a:off x="929640" y="5770881"/>
            <a:ext cx="10332720" cy="502920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 fontScale="96912"/>
          </a:bodyPr>
          <a:lstStyle/>
          <a:p>
            <a:pPr marL="0" indent="0">
              <a:buNone/>
            </a:pPr>
            <a:r>
              <a:rPr sz="1700" b="1" dirty="0">
                <a:solidFill>
                  <a:srgbClr val="1E2A36"/>
                </a:solidFill>
              </a:rPr>
              <a:t>Le prix moyen passe </a:t>
            </a:r>
            <a:r>
              <a:rPr lang="fr-FR" sz="1700" b="1" dirty="0">
                <a:solidFill>
                  <a:srgbClr val="1E2A36"/>
                </a:solidFill>
              </a:rPr>
              <a:t>de </a:t>
            </a:r>
            <a:r>
              <a:rPr sz="1700" b="1" dirty="0">
                <a:solidFill>
                  <a:srgbClr val="1E2A36"/>
                </a:solidFill>
              </a:rPr>
              <a:t>9 492 €/m² à 10 456 €/m². Le pic </a:t>
            </a:r>
            <a:r>
              <a:rPr sz="1700" b="1" dirty="0" err="1">
                <a:solidFill>
                  <a:srgbClr val="1E2A36"/>
                </a:solidFill>
              </a:rPr>
              <a:t>observé</a:t>
            </a:r>
            <a:r>
              <a:rPr sz="1700" b="1" dirty="0">
                <a:solidFill>
                  <a:srgbClr val="1E2A36"/>
                </a:solidFill>
              </a:rPr>
              <a:t> </a:t>
            </a:r>
            <a:r>
              <a:rPr sz="1700" b="1" dirty="0" err="1">
                <a:solidFill>
                  <a:srgbClr val="1E2A36"/>
                </a:solidFill>
              </a:rPr>
              <a:t>en</a:t>
            </a:r>
            <a:r>
              <a:rPr sz="1700" b="1" dirty="0">
                <a:solidFill>
                  <a:srgbClr val="1E2A36"/>
                </a:solidFill>
              </a:rPr>
              <a:t> 2020 est </a:t>
            </a:r>
            <a:r>
              <a:rPr sz="1700" b="1" dirty="0" err="1">
                <a:solidFill>
                  <a:srgbClr val="1E2A36"/>
                </a:solidFill>
              </a:rPr>
              <a:t>suivi</a:t>
            </a:r>
            <a:r>
              <a:rPr sz="1700" b="1" dirty="0">
                <a:solidFill>
                  <a:srgbClr val="1E2A36"/>
                </a:solidFill>
              </a:rPr>
              <a:t> d’un </a:t>
            </a:r>
            <a:r>
              <a:rPr sz="1700" b="1" dirty="0" err="1">
                <a:solidFill>
                  <a:srgbClr val="1E2A36"/>
                </a:solidFill>
              </a:rPr>
              <a:t>léger</a:t>
            </a:r>
            <a:r>
              <a:rPr sz="1700" b="1" dirty="0">
                <a:solidFill>
                  <a:srgbClr val="1E2A36"/>
                </a:solidFill>
              </a:rPr>
              <a:t> </a:t>
            </a:r>
            <a:r>
              <a:rPr sz="1700" b="1" dirty="0" err="1">
                <a:solidFill>
                  <a:srgbClr val="1E2A36"/>
                </a:solidFill>
              </a:rPr>
              <a:t>repli</a:t>
            </a:r>
            <a:r>
              <a:rPr sz="1700" b="1" dirty="0">
                <a:solidFill>
                  <a:srgbClr val="1E2A36"/>
                </a:solidFill>
              </a:rPr>
              <a:t> </a:t>
            </a:r>
            <a:r>
              <a:rPr sz="1700" b="1" dirty="0" err="1">
                <a:solidFill>
                  <a:srgbClr val="1E2A36"/>
                </a:solidFill>
              </a:rPr>
              <a:t>en</a:t>
            </a:r>
            <a:r>
              <a:rPr sz="1700" b="1" dirty="0">
                <a:solidFill>
                  <a:srgbClr val="1E2A36"/>
                </a:solidFill>
              </a:rPr>
              <a:t> 2021.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13657E8-CE0C-4905-898D-806DA089881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EE5B3003-2C54-13C6-9832-7637201064DE}" type="slidenum">
              <a:rPr b="0"/>
              <a:t>5</a:t>
            </a:fld>
            <a:endParaRPr b="0"/>
          </a:p>
        </p:txBody>
      </p:sp>
      <p:pic>
        <p:nvPicPr>
          <p:cNvPr id="37" name="Imag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58560" y="1255195"/>
            <a:ext cx="4460743" cy="4370399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754664C5-B590-A15E-AFFF-3B418A621BF6}"/>
              </a:ext>
            </a:extLst>
          </p:cNvPr>
          <p:cNvSpPr>
            <a:spLocks noGrp="1"/>
          </p:cNvSpPr>
          <p:nvPr/>
        </p:nvSpPr>
        <p:spPr>
          <a:xfrm>
            <a:off x="929640" y="3327467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fr-FR" sz="2800" b="1" dirty="0">
                <a:solidFill>
                  <a:schemeClr val="accent2"/>
                </a:solidFill>
              </a:rPr>
              <a:t>10 675 €/m² </a:t>
            </a:r>
            <a:endParaRPr sz="2800" b="1" dirty="0">
              <a:solidFill>
                <a:schemeClr val="accent2"/>
              </a:solidFill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F2177B0-7CF3-19BA-3A92-AE2BC73B1B74}"/>
              </a:ext>
            </a:extLst>
          </p:cNvPr>
          <p:cNvSpPr>
            <a:spLocks noGrp="1"/>
          </p:cNvSpPr>
          <p:nvPr/>
        </p:nvSpPr>
        <p:spPr>
          <a:xfrm>
            <a:off x="929640" y="441795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fr-FR" sz="2800" b="1" dirty="0">
                <a:solidFill>
                  <a:schemeClr val="accent2"/>
                </a:solidFill>
              </a:rPr>
              <a:t>-2,1 %</a:t>
            </a:r>
            <a:endParaRPr sz="2800" b="1" dirty="0">
              <a:solidFill>
                <a:schemeClr val="accent2"/>
              </a:solidFill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4EBEEA62-FD4A-4B0D-CF1B-466D78429AA8}"/>
              </a:ext>
            </a:extLst>
          </p:cNvPr>
          <p:cNvSpPr>
            <a:spLocks noGrp="1"/>
          </p:cNvSpPr>
          <p:nvPr/>
        </p:nvSpPr>
        <p:spPr>
          <a:xfrm>
            <a:off x="3426460" y="341550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fr-FR" sz="1100" dirty="0"/>
              <a:t>pic en 2020</a:t>
            </a:r>
            <a:endParaRPr sz="1100" dirty="0">
              <a:solidFill>
                <a:srgbClr val="655F57"/>
              </a:solidFill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8A1D0BE6-34F8-BF69-8B32-24F6530D1FBE}"/>
              </a:ext>
            </a:extLst>
          </p:cNvPr>
          <p:cNvSpPr>
            <a:spLocks noGrp="1"/>
          </p:cNvSpPr>
          <p:nvPr/>
        </p:nvSpPr>
        <p:spPr>
          <a:xfrm>
            <a:off x="3426460" y="449751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fr-FR" sz="1100" dirty="0"/>
              <a:t>repli en 2021</a:t>
            </a:r>
            <a:endParaRPr sz="1100" dirty="0">
              <a:solidFill>
                <a:srgbClr val="655F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84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0F5C8F-9357-4B3F-A7A5-2525FD6D4CD2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LOCALISATION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0CDE13-22E9-479D-A33F-A84CCA6B56C7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La localisation structure le niveau des prix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146BBC1-BE67-4391-BCB8-6E574E2DD96C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F306194-375A-4B28-BE5B-A8594134C967}"/>
              </a:ext>
            </a:extLst>
          </p:cNvPr>
          <p:cNvSpPr>
            <a:spLocks noGrp="1"/>
          </p:cNvSpPr>
          <p:nvPr/>
        </p:nvSpPr>
        <p:spPr>
          <a:xfrm>
            <a:off x="7021830" y="232943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 dirty="0">
                <a:solidFill>
                  <a:srgbClr val="33A5B6"/>
                </a:solidFill>
              </a:rPr>
              <a:t>LECTURE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B734048-BFE9-48BA-82CD-455E3B9866A5}"/>
              </a:ext>
            </a:extLst>
          </p:cNvPr>
          <p:cNvSpPr>
            <a:spLocks noGrp="1"/>
          </p:cNvSpPr>
          <p:nvPr/>
        </p:nvSpPr>
        <p:spPr>
          <a:xfrm>
            <a:off x="7021830" y="2622042"/>
            <a:ext cx="3657600" cy="0"/>
          </a:xfrm>
          <a:prstGeom prst="line">
            <a:avLst/>
          </a:prstGeom>
          <a:noFill/>
          <a:ln w="1524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31196E9-D078-4F86-BFA6-CB2678C72DCC}"/>
              </a:ext>
            </a:extLst>
          </p:cNvPr>
          <p:cNvSpPr>
            <a:spLocks noGrp="1"/>
          </p:cNvSpPr>
          <p:nvPr/>
        </p:nvSpPr>
        <p:spPr>
          <a:xfrm>
            <a:off x="7067550" y="2740914"/>
            <a:ext cx="4206240" cy="219456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500">
                <a:solidFill>
                  <a:srgbClr val="171A1F"/>
                </a:solidFill>
              </a:rPr>
              <a:t>Les prix 2021 varient fortement entre arrondissements.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La localisation doit donc rester une variable explicative du modèle.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Cette dispersion confirme que la moyenne parisienne ne suffit pas à valoriser un actif.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BA188BB-3DC3-44A6-AD7A-426C020E3F39}"/>
              </a:ext>
            </a:extLst>
          </p:cNvPr>
          <p:cNvSpPr>
            <a:spLocks noGrp="1"/>
          </p:cNvSpPr>
          <p:nvPr/>
        </p:nvSpPr>
        <p:spPr>
          <a:xfrm>
            <a:off x="1097280" y="6057900"/>
            <a:ext cx="7498080" cy="320040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/>
          </a:bodyPr>
          <a:lstStyle/>
          <a:p>
            <a:pPr marL="0" indent="0">
              <a:buNone/>
            </a:pPr>
            <a:endParaRPr sz="1300" i="1" dirty="0">
              <a:solidFill>
                <a:srgbClr val="655F57"/>
              </a:solidFill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CDA9ED2-FC6F-435E-B380-895E795C462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8C630A04-5A25-9E0C-9436-126091DB86B3}" type="slidenum">
              <a:rPr b="0"/>
              <a:t>6</a:t>
            </a:fld>
            <a:endParaRPr b="0"/>
          </a:p>
        </p:txBody>
      </p:sp>
      <p:pic>
        <p:nvPicPr>
          <p:cNvPr id="37" name="Imag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66928" y="1417319"/>
            <a:ext cx="5344758" cy="427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10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0F5C8F-9357-4B3F-A7A5-2525FD6D4CD2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TYPE DE BIEN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0CDE13-22E9-479D-A33F-A84CCA6B56C7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Les locaux commerciaux restent plus chers au m²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146BBC1-BE67-4391-BCB8-6E574E2DD96C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F306194-375A-4B28-BE5B-A8594134C967}"/>
              </a:ext>
            </a:extLst>
          </p:cNvPr>
          <p:cNvSpPr>
            <a:spLocks noGrp="1"/>
          </p:cNvSpPr>
          <p:nvPr/>
        </p:nvSpPr>
        <p:spPr>
          <a:xfrm>
            <a:off x="7287768" y="232943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33A5B6"/>
                </a:solidFill>
              </a:rPr>
              <a:t>LECTURE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B734048-BFE9-48BA-82CD-455E3B9866A5}"/>
              </a:ext>
            </a:extLst>
          </p:cNvPr>
          <p:cNvSpPr>
            <a:spLocks noGrp="1"/>
          </p:cNvSpPr>
          <p:nvPr/>
        </p:nvSpPr>
        <p:spPr>
          <a:xfrm>
            <a:off x="7287768" y="2622042"/>
            <a:ext cx="3657600" cy="0"/>
          </a:xfrm>
          <a:prstGeom prst="line">
            <a:avLst/>
          </a:prstGeom>
          <a:noFill/>
          <a:ln w="1524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31196E9-D078-4F86-BFA6-CB2678C72DCC}"/>
              </a:ext>
            </a:extLst>
          </p:cNvPr>
          <p:cNvSpPr>
            <a:spLocks noGrp="1"/>
          </p:cNvSpPr>
          <p:nvPr/>
        </p:nvSpPr>
        <p:spPr>
          <a:xfrm>
            <a:off x="7333488" y="2740914"/>
            <a:ext cx="4206240" cy="219456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500">
                <a:solidFill>
                  <a:srgbClr val="171A1F"/>
                </a:solidFill>
              </a:rPr>
              <a:t>Les deux segments progressent sur la période.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Les locaux commerciaux se situent constamment au-dessus des appartements.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Le type de local doit donc être conservé dans la régression.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BA188BB-3DC3-44A6-AD7A-426C020E3F39}"/>
              </a:ext>
            </a:extLst>
          </p:cNvPr>
          <p:cNvSpPr>
            <a:spLocks noGrp="1"/>
          </p:cNvSpPr>
          <p:nvPr/>
        </p:nvSpPr>
        <p:spPr>
          <a:xfrm>
            <a:off x="1097280" y="6057900"/>
            <a:ext cx="7498080" cy="320040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/>
          </a:bodyPr>
          <a:lstStyle/>
          <a:p>
            <a:pPr marL="0" indent="0">
              <a:buNone/>
            </a:pPr>
            <a:r>
              <a:rPr sz="1300" i="1">
                <a:solidFill>
                  <a:srgbClr val="655F57"/>
                </a:solidFill>
              </a:rPr>
              <a:t>Prix moyen au m² par type de local, 2017–2021.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CDA9ED2-FC6F-435E-B380-895E795C462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D3D7D1C8-AE23-AA48-DF65-C742588DBE47}" type="slidenum">
              <a:rPr b="0"/>
              <a:t>7</a:t>
            </a:fld>
            <a:endParaRPr b="0"/>
          </a:p>
        </p:txBody>
      </p:sp>
      <p:pic>
        <p:nvPicPr>
          <p:cNvPr id="37" name="Imag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0655" y="1417320"/>
            <a:ext cx="6117284" cy="365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106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E380F1-7386-4DC2-8C4F-5E0F5B387EB5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CORRÉLATIONS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9F1578-ED82-45C8-8C98-0C12305F775A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Pearson confirme une forte tendance temporelle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816586-74B4-4B90-94F6-F525CBF30117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71828B-C29D-4108-8FDF-76A9DA560E34}"/>
              </a:ext>
            </a:extLst>
          </p:cNvPr>
          <p:cNvSpPr>
            <a:spLocks noGrp="1"/>
          </p:cNvSpPr>
          <p:nvPr/>
        </p:nvSpPr>
        <p:spPr>
          <a:xfrm>
            <a:off x="768096" y="1897761"/>
            <a:ext cx="2852928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 b="1">
                <a:latin typeface="Aptos"/>
                <a:ea typeface="Aptos"/>
                <a:cs typeface="Aptos"/>
              </a:rPr>
              <a:t>Variables croisées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A55BBB5-543F-470D-89CD-BD52F96B9C84}"/>
              </a:ext>
            </a:extLst>
          </p:cNvPr>
          <p:cNvSpPr>
            <a:spLocks noGrp="1"/>
          </p:cNvSpPr>
          <p:nvPr/>
        </p:nvSpPr>
        <p:spPr>
          <a:xfrm>
            <a:off x="3694176" y="1897761"/>
            <a:ext cx="3584448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 b="1">
                <a:latin typeface="Aptos"/>
                <a:ea typeface="Aptos"/>
                <a:cs typeface="Aptos"/>
              </a:rPr>
              <a:t>Coefficient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D0AB4BA-7A9F-45C9-B324-A885E32400FF}"/>
              </a:ext>
            </a:extLst>
          </p:cNvPr>
          <p:cNvSpPr>
            <a:spLocks noGrp="1"/>
          </p:cNvSpPr>
          <p:nvPr/>
        </p:nvSpPr>
        <p:spPr>
          <a:xfrm>
            <a:off x="7351776" y="1897761"/>
            <a:ext cx="4133088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 b="1">
                <a:latin typeface="Aptos"/>
                <a:ea typeface="Aptos"/>
                <a:cs typeface="Aptos"/>
              </a:rPr>
              <a:t>Lecture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8B07CAD-427D-49C2-A172-DC9858DAE75E}"/>
              </a:ext>
            </a:extLst>
          </p:cNvPr>
          <p:cNvSpPr>
            <a:spLocks noGrp="1"/>
          </p:cNvSpPr>
          <p:nvPr/>
        </p:nvSpPr>
        <p:spPr>
          <a:xfrm>
            <a:off x="731520" y="2400681"/>
            <a:ext cx="10789920" cy="0"/>
          </a:xfrm>
          <a:prstGeom prst="line">
            <a:avLst/>
          </a:prstGeom>
          <a:noFill/>
          <a:ln w="13970">
            <a:solidFill>
              <a:srgbClr val="1E2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3462388-31D9-41A2-9E9C-096622A9B83C}"/>
              </a:ext>
            </a:extLst>
          </p:cNvPr>
          <p:cNvSpPr>
            <a:spLocks noGrp="1"/>
          </p:cNvSpPr>
          <p:nvPr/>
        </p:nvSpPr>
        <p:spPr>
          <a:xfrm>
            <a:off x="768096" y="2446401"/>
            <a:ext cx="2852928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Date ↔ prix au m²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6DFD955-DDB1-467D-9D39-3D729E5556C0}"/>
              </a:ext>
            </a:extLst>
          </p:cNvPr>
          <p:cNvSpPr>
            <a:spLocks noGrp="1"/>
          </p:cNvSpPr>
          <p:nvPr/>
        </p:nvSpPr>
        <p:spPr>
          <a:xfrm>
            <a:off x="3694176" y="2446401"/>
            <a:ext cx="3584448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r = 0,904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4474FC0-048F-4B8F-9B3C-4464609AAD9B}"/>
              </a:ext>
            </a:extLst>
          </p:cNvPr>
          <p:cNvSpPr>
            <a:spLocks noGrp="1"/>
          </p:cNvSpPr>
          <p:nvPr/>
        </p:nvSpPr>
        <p:spPr>
          <a:xfrm>
            <a:off x="7351776" y="2446401"/>
            <a:ext cx="4133088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Relation positive forte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BB95EF5-6BCC-4020-8ADF-82357C942F22}"/>
              </a:ext>
            </a:extLst>
          </p:cNvPr>
          <p:cNvSpPr>
            <a:spLocks noGrp="1"/>
          </p:cNvSpPr>
          <p:nvPr/>
        </p:nvSpPr>
        <p:spPr>
          <a:xfrm>
            <a:off x="731520" y="2949321"/>
            <a:ext cx="1078992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2BF3974-26A1-4B04-83EA-56D5C2F83F94}"/>
              </a:ext>
            </a:extLst>
          </p:cNvPr>
          <p:cNvSpPr>
            <a:spLocks noGrp="1"/>
          </p:cNvSpPr>
          <p:nvPr/>
        </p:nvSpPr>
        <p:spPr>
          <a:xfrm>
            <a:off x="768096" y="2995041"/>
            <a:ext cx="2852928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Surface ↔ prix au m²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E27BF90-99C6-4A74-B703-576122588EA5}"/>
              </a:ext>
            </a:extLst>
          </p:cNvPr>
          <p:cNvSpPr>
            <a:spLocks noGrp="1"/>
          </p:cNvSpPr>
          <p:nvPr/>
        </p:nvSpPr>
        <p:spPr>
          <a:xfrm>
            <a:off x="3694176" y="2995041"/>
            <a:ext cx="3584448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r = 0,103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15AD6A5-C571-4FC6-9AA3-7D630C93A69B}"/>
              </a:ext>
            </a:extLst>
          </p:cNvPr>
          <p:cNvSpPr>
            <a:spLocks noGrp="1"/>
          </p:cNvSpPr>
          <p:nvPr/>
        </p:nvSpPr>
        <p:spPr>
          <a:xfrm>
            <a:off x="7351776" y="2995041"/>
            <a:ext cx="4133088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Relation positive très faible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AAA571A-DAEB-4F36-8879-AB022AFE012F}"/>
              </a:ext>
            </a:extLst>
          </p:cNvPr>
          <p:cNvSpPr>
            <a:spLocks noGrp="1"/>
          </p:cNvSpPr>
          <p:nvPr/>
        </p:nvSpPr>
        <p:spPr>
          <a:xfrm>
            <a:off x="731520" y="3497961"/>
            <a:ext cx="1078992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2F5820A-44D2-4894-8806-F76B96FA8792}"/>
              </a:ext>
            </a:extLst>
          </p:cNvPr>
          <p:cNvSpPr>
            <a:spLocks noGrp="1"/>
          </p:cNvSpPr>
          <p:nvPr/>
        </p:nvSpPr>
        <p:spPr>
          <a:xfrm>
            <a:off x="768096" y="3543681"/>
            <a:ext cx="2852928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Précaution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344D17E-9F45-4781-AD56-455C87E80738}"/>
              </a:ext>
            </a:extLst>
          </p:cNvPr>
          <p:cNvSpPr>
            <a:spLocks noGrp="1"/>
          </p:cNvSpPr>
          <p:nvPr/>
        </p:nvSpPr>
        <p:spPr>
          <a:xfrm>
            <a:off x="3694176" y="3543681"/>
            <a:ext cx="3584448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p-value significative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599E887-B006-4A88-95E7-72CA1A3A9971}"/>
              </a:ext>
            </a:extLst>
          </p:cNvPr>
          <p:cNvSpPr>
            <a:spLocks noGrp="1"/>
          </p:cNvSpPr>
          <p:nvPr/>
        </p:nvSpPr>
        <p:spPr>
          <a:xfrm>
            <a:off x="7351776" y="3543681"/>
            <a:ext cx="4133088" cy="47548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Corrélation ≠ causalité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AC4EA39-6C73-48AA-A554-6A377DDB2899}"/>
              </a:ext>
            </a:extLst>
          </p:cNvPr>
          <p:cNvSpPr>
            <a:spLocks noGrp="1"/>
          </p:cNvSpPr>
          <p:nvPr/>
        </p:nvSpPr>
        <p:spPr>
          <a:xfrm>
            <a:off x="731520" y="4046601"/>
            <a:ext cx="1078992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91D687E-9CE6-419F-9B11-9B21FD489033}"/>
              </a:ext>
            </a:extLst>
          </p:cNvPr>
          <p:cNvSpPr>
            <a:spLocks noGrp="1"/>
          </p:cNvSpPr>
          <p:nvPr/>
        </p:nvSpPr>
        <p:spPr>
          <a:xfrm>
            <a:off x="868680" y="5089398"/>
            <a:ext cx="10515600" cy="137160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600">
                <a:solidFill>
                  <a:srgbClr val="171A1F"/>
                </a:solidFill>
              </a:rPr>
              <a:t>La date traduit fortement la progression du marché dans le 6e arrondissement.</a:t>
            </a:r>
          </a:p>
          <a:p>
            <a:endParaRPr sz="1600">
              <a:solidFill>
                <a:srgbClr val="171A1F"/>
              </a:solidFill>
            </a:endParaRPr>
          </a:p>
          <a:p>
            <a:r>
              <a:rPr sz="1600">
                <a:solidFill>
                  <a:srgbClr val="171A1F"/>
                </a:solidFill>
              </a:rPr>
              <a:t>La surface explique surtout la valeur totale du bien, mais très peu son niveau de prix au m².</a:t>
            </a:r>
          </a:p>
          <a:p>
            <a:endParaRPr sz="1600">
              <a:solidFill>
                <a:srgbClr val="171A1F"/>
              </a:solidFill>
            </a:endParaRPr>
          </a:p>
          <a:p>
            <a:r>
              <a:rPr sz="1600">
                <a:solidFill>
                  <a:srgbClr val="171A1F"/>
                </a:solidFill>
              </a:rPr>
              <a:t>La décision doit combiner plusieurs variables et non un coefficient isolé.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04AC6FA-69EB-4655-8E0A-F61F1176AB8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BA58DA2A-B818-18A9-29C1-B697728D5BCE}" type="slidenum">
              <a:rPr b="0"/>
              <a:t>8</a:t>
            </a:fld>
            <a:endParaRPr b="0"/>
          </a:p>
        </p:txBody>
      </p:sp>
      <p:pic>
        <p:nvPicPr>
          <p:cNvPr id="48" name="Imag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65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5BA70A-7890-4522-8419-89BECF016CC9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MODÈLE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545178-4EE9-432E-9107-74347D747A1C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Quatre variables alimentent la valorisation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0AF4DA9-905B-418F-A38A-6AAA9630C918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29F628-8C7A-4236-910C-570CDF31657E}"/>
              </a:ext>
            </a:extLst>
          </p:cNvPr>
          <p:cNvSpPr>
            <a:spLocks noGrp="1"/>
          </p:cNvSpPr>
          <p:nvPr/>
        </p:nvSpPr>
        <p:spPr>
          <a:xfrm>
            <a:off x="813816" y="1645920"/>
            <a:ext cx="175564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 b="1">
                <a:latin typeface="Aptos"/>
                <a:ea typeface="Aptos"/>
                <a:cs typeface="Aptos"/>
              </a:rPr>
              <a:t>Variable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FA2E0A1-5B14-4527-B173-8FDC5B68B541}"/>
              </a:ext>
            </a:extLst>
          </p:cNvPr>
          <p:cNvSpPr>
            <a:spLocks noGrp="1"/>
          </p:cNvSpPr>
          <p:nvPr/>
        </p:nvSpPr>
        <p:spPr>
          <a:xfrm>
            <a:off x="2642616" y="1645920"/>
            <a:ext cx="577900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 b="1">
                <a:latin typeface="Aptos"/>
                <a:ea typeface="Aptos"/>
                <a:cs typeface="Aptos"/>
              </a:rPr>
              <a:t>Rôle dans le modèle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6A74D39-2290-4472-AEAA-79FABD625243}"/>
              </a:ext>
            </a:extLst>
          </p:cNvPr>
          <p:cNvSpPr>
            <a:spLocks noGrp="1"/>
          </p:cNvSpPr>
          <p:nvPr/>
        </p:nvSpPr>
        <p:spPr>
          <a:xfrm>
            <a:off x="8494776" y="1645920"/>
            <a:ext cx="294436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 b="1">
                <a:latin typeface="Aptos"/>
                <a:ea typeface="Aptos"/>
                <a:cs typeface="Aptos"/>
              </a:rPr>
              <a:t>Préparation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0F90287-1F0D-4BA6-86E9-DF7AC84F7D3E}"/>
              </a:ext>
            </a:extLst>
          </p:cNvPr>
          <p:cNvSpPr>
            <a:spLocks noGrp="1"/>
          </p:cNvSpPr>
          <p:nvPr/>
        </p:nvSpPr>
        <p:spPr>
          <a:xfrm>
            <a:off x="777240" y="2114550"/>
            <a:ext cx="10698480" cy="0"/>
          </a:xfrm>
          <a:prstGeom prst="line">
            <a:avLst/>
          </a:prstGeom>
          <a:noFill/>
          <a:ln w="13970">
            <a:solidFill>
              <a:srgbClr val="1E2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D6642AE-598D-4276-B38C-B3001A43DED0}"/>
              </a:ext>
            </a:extLst>
          </p:cNvPr>
          <p:cNvSpPr>
            <a:spLocks noGrp="1"/>
          </p:cNvSpPr>
          <p:nvPr/>
        </p:nvSpPr>
        <p:spPr>
          <a:xfrm>
            <a:off x="813816" y="2160270"/>
            <a:ext cx="175564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Surface réelle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E14A20D-6CF2-4523-8C0C-5677A52434F9}"/>
              </a:ext>
            </a:extLst>
          </p:cNvPr>
          <p:cNvSpPr>
            <a:spLocks noGrp="1"/>
          </p:cNvSpPr>
          <p:nvPr/>
        </p:nvSpPr>
        <p:spPr>
          <a:xfrm>
            <a:off x="2642616" y="2160270"/>
            <a:ext cx="577900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Dimension physique et base de la valeur totale.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608B982-9B0D-482D-B71A-A7ECB562D251}"/>
              </a:ext>
            </a:extLst>
          </p:cNvPr>
          <p:cNvSpPr>
            <a:spLocks noGrp="1"/>
          </p:cNvSpPr>
          <p:nvPr/>
        </p:nvSpPr>
        <p:spPr>
          <a:xfrm>
            <a:off x="8494776" y="2160270"/>
            <a:ext cx="294436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Variable numérique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5F3CF79-F2BF-47CD-89AA-021C460723B7}"/>
              </a:ext>
            </a:extLst>
          </p:cNvPr>
          <p:cNvSpPr>
            <a:spLocks noGrp="1"/>
          </p:cNvSpPr>
          <p:nvPr/>
        </p:nvSpPr>
        <p:spPr>
          <a:xfrm>
            <a:off x="777240" y="2628900"/>
            <a:ext cx="106984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C367302-44D7-4BD5-A293-5E15181C3DC8}"/>
              </a:ext>
            </a:extLst>
          </p:cNvPr>
          <p:cNvSpPr>
            <a:spLocks noGrp="1"/>
          </p:cNvSpPr>
          <p:nvPr/>
        </p:nvSpPr>
        <p:spPr>
          <a:xfrm>
            <a:off x="813816" y="2674620"/>
            <a:ext cx="175564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Date de mutation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C494D37-4D13-4A4B-BB28-25F539A0FF09}"/>
              </a:ext>
            </a:extLst>
          </p:cNvPr>
          <p:cNvSpPr>
            <a:spLocks noGrp="1"/>
          </p:cNvSpPr>
          <p:nvPr/>
        </p:nvSpPr>
        <p:spPr>
          <a:xfrm>
            <a:off x="2642616" y="2674620"/>
            <a:ext cx="577900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Tendance temporelle du marché immobilier.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24B887A-EE4D-4347-AFD0-B1B176E71BD0}"/>
              </a:ext>
            </a:extLst>
          </p:cNvPr>
          <p:cNvSpPr>
            <a:spLocks noGrp="1"/>
          </p:cNvSpPr>
          <p:nvPr/>
        </p:nvSpPr>
        <p:spPr>
          <a:xfrm>
            <a:off x="8494776" y="2674620"/>
            <a:ext cx="294436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Conversion numérique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F3CB951-821A-4604-ACC6-F40B4A92FAFB}"/>
              </a:ext>
            </a:extLst>
          </p:cNvPr>
          <p:cNvSpPr>
            <a:spLocks noGrp="1"/>
          </p:cNvSpPr>
          <p:nvPr/>
        </p:nvSpPr>
        <p:spPr>
          <a:xfrm>
            <a:off x="777240" y="3143250"/>
            <a:ext cx="106984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E7C2DD1-42B4-4484-9D9B-B75D39DBB262}"/>
              </a:ext>
            </a:extLst>
          </p:cNvPr>
          <p:cNvSpPr>
            <a:spLocks noGrp="1"/>
          </p:cNvSpPr>
          <p:nvPr/>
        </p:nvSpPr>
        <p:spPr>
          <a:xfrm>
            <a:off x="813816" y="3188970"/>
            <a:ext cx="175564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Code postal + type local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E24F1CE-8744-48CE-9BAC-0F1C43060AE6}"/>
              </a:ext>
            </a:extLst>
          </p:cNvPr>
          <p:cNvSpPr>
            <a:spLocks noGrp="1"/>
          </p:cNvSpPr>
          <p:nvPr/>
        </p:nvSpPr>
        <p:spPr>
          <a:xfrm>
            <a:off x="2642616" y="3188970"/>
            <a:ext cx="577900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171A1F"/>
                </a:solidFill>
                <a:latin typeface="Aptos"/>
                <a:ea typeface="Aptos"/>
                <a:cs typeface="Aptos"/>
              </a:rPr>
              <a:t>Localisation et segment immobilier.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B67CB60-8569-4D5F-8557-C74488CE63E7}"/>
              </a:ext>
            </a:extLst>
          </p:cNvPr>
          <p:cNvSpPr>
            <a:spLocks noGrp="1"/>
          </p:cNvSpPr>
          <p:nvPr/>
        </p:nvSpPr>
        <p:spPr>
          <a:xfrm>
            <a:off x="8494776" y="3188970"/>
            <a:ext cx="2944368" cy="441198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00" dirty="0">
                <a:solidFill>
                  <a:srgbClr val="171A1F"/>
                </a:solidFill>
                <a:latin typeface="Aptos"/>
                <a:ea typeface="Aptos"/>
                <a:cs typeface="Aptos"/>
              </a:rPr>
              <a:t>One-hot encoding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A09E78C-7082-4B2E-A76B-63AF6D9B49F6}"/>
              </a:ext>
            </a:extLst>
          </p:cNvPr>
          <p:cNvSpPr>
            <a:spLocks noGrp="1"/>
          </p:cNvSpPr>
          <p:nvPr/>
        </p:nvSpPr>
        <p:spPr>
          <a:xfrm>
            <a:off x="777240" y="3657600"/>
            <a:ext cx="106984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6AEA967-BDE1-4E8F-A723-AF7807E3E9DA}"/>
              </a:ext>
            </a:extLst>
          </p:cNvPr>
          <p:cNvSpPr>
            <a:spLocks noGrp="1"/>
          </p:cNvSpPr>
          <p:nvPr/>
        </p:nvSpPr>
        <p:spPr>
          <a:xfrm>
            <a:off x="868680" y="4400169"/>
            <a:ext cx="49377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33A5B6"/>
                </a:solidFill>
              </a:rPr>
              <a:t>ENJEU DE PRÉPARATION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8E14B86-0EB9-4B01-B4AA-EAE6B554AA15}"/>
              </a:ext>
            </a:extLst>
          </p:cNvPr>
          <p:cNvSpPr>
            <a:spLocks noGrp="1"/>
          </p:cNvSpPr>
          <p:nvPr/>
        </p:nvSpPr>
        <p:spPr>
          <a:xfrm>
            <a:off x="868680" y="4693158"/>
            <a:ext cx="4937760" cy="0"/>
          </a:xfrm>
          <a:prstGeom prst="line">
            <a:avLst/>
          </a:prstGeom>
          <a:noFill/>
          <a:ln w="1524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2559673-9C0A-4710-A9A7-06030736DE12}"/>
              </a:ext>
            </a:extLst>
          </p:cNvPr>
          <p:cNvSpPr>
            <a:spLocks noGrp="1"/>
          </p:cNvSpPr>
          <p:nvPr/>
        </p:nvSpPr>
        <p:spPr>
          <a:xfrm>
            <a:off x="813816" y="5298947"/>
            <a:ext cx="10241280" cy="822960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/>
          </a:bodyPr>
          <a:lstStyle/>
          <a:p>
            <a:r>
              <a:rPr sz="1600" b="1"/>
              <a:t>Le one-hot encoding transforme les catégories en colonnes 0/1 sans imposer d’ordre artificiel entre arrondissements ou types de locaux.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868A28E-B7DB-4D7A-BEA8-7670A01686E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388657AE-30A1-5A7A-6A7F-315D84436430}" type="slidenum">
              <a:rPr b="0"/>
              <a:t>9</a:t>
            </a:fld>
            <a:endParaRPr b="0"/>
          </a:p>
        </p:txBody>
      </p:sp>
      <p:pic>
        <p:nvPicPr>
          <p:cNvPr id="50" name="Imag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32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83D9D6-734F-45AB-B6F6-625651D69AB0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MÉTHODE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E781AB-BB2A-42B8-9417-787DF0A7240E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De l’évaluation à la valorisation finale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22758B9-9AAD-4D65-9893-40A4E752EB1C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B7DE59B-7C90-4F92-8C25-6C36BAF3DC1D}"/>
              </a:ext>
            </a:extLst>
          </p:cNvPr>
          <p:cNvSpPr>
            <a:spLocks noGrp="1"/>
          </p:cNvSpPr>
          <p:nvPr/>
        </p:nvSpPr>
        <p:spPr>
          <a:xfrm>
            <a:off x="2011680" y="2743200"/>
            <a:ext cx="868680" cy="0"/>
          </a:xfrm>
          <a:prstGeom prst="line">
            <a:avLst/>
          </a:prstGeom>
          <a:noFill/>
          <a:ln w="17780">
            <a:solidFill>
              <a:srgbClr val="D8D2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0753D77-3FB1-4726-A537-BA73750BA607}"/>
              </a:ext>
            </a:extLst>
          </p:cNvPr>
          <p:cNvSpPr>
            <a:spLocks noGrp="1"/>
          </p:cNvSpPr>
          <p:nvPr/>
        </p:nvSpPr>
        <p:spPr>
          <a:xfrm>
            <a:off x="4297680" y="2743200"/>
            <a:ext cx="868680" cy="0"/>
          </a:xfrm>
          <a:prstGeom prst="line">
            <a:avLst/>
          </a:prstGeom>
          <a:noFill/>
          <a:ln w="17780">
            <a:solidFill>
              <a:srgbClr val="D8D2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F620475-227C-4595-B763-2F1CBE8CEEF5}"/>
              </a:ext>
            </a:extLst>
          </p:cNvPr>
          <p:cNvSpPr>
            <a:spLocks noGrp="1"/>
          </p:cNvSpPr>
          <p:nvPr/>
        </p:nvSpPr>
        <p:spPr>
          <a:xfrm>
            <a:off x="6583680" y="2743200"/>
            <a:ext cx="868680" cy="0"/>
          </a:xfrm>
          <a:prstGeom prst="line">
            <a:avLst/>
          </a:prstGeom>
          <a:noFill/>
          <a:ln w="17780">
            <a:solidFill>
              <a:srgbClr val="D8D2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A75BB27-515D-4A92-9C94-4057331D39D6}"/>
              </a:ext>
            </a:extLst>
          </p:cNvPr>
          <p:cNvSpPr>
            <a:spLocks noGrp="1"/>
          </p:cNvSpPr>
          <p:nvPr/>
        </p:nvSpPr>
        <p:spPr>
          <a:xfrm>
            <a:off x="8869680" y="2743200"/>
            <a:ext cx="868680" cy="0"/>
          </a:xfrm>
          <a:prstGeom prst="line">
            <a:avLst/>
          </a:prstGeom>
          <a:noFill/>
          <a:ln w="17780">
            <a:solidFill>
              <a:srgbClr val="D8D2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9B85939-C727-40AE-930B-2C6C6450D276}"/>
              </a:ext>
            </a:extLst>
          </p:cNvPr>
          <p:cNvSpPr>
            <a:spLocks noGrp="1"/>
          </p:cNvSpPr>
          <p:nvPr/>
        </p:nvSpPr>
        <p:spPr>
          <a:xfrm>
            <a:off x="640080" y="2148840"/>
            <a:ext cx="15087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0"/>
            </a:srgbClr>
          </a:solidFill>
          <a:ln w="13970">
            <a:solidFill>
              <a:srgbClr val="FF72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11492DD-F193-4879-8A23-7A4FE7AC1263}"/>
              </a:ext>
            </a:extLst>
          </p:cNvPr>
          <p:cNvSpPr>
            <a:spLocks noGrp="1"/>
          </p:cNvSpPr>
          <p:nvPr/>
        </p:nvSpPr>
        <p:spPr>
          <a:xfrm>
            <a:off x="731520" y="225856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FF7200"/>
                </a:solidFill>
              </a:rPr>
              <a:t>1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D289201-2E86-497A-91CC-C112BA220B24}"/>
              </a:ext>
            </a:extLst>
          </p:cNvPr>
          <p:cNvSpPr>
            <a:spLocks noGrp="1"/>
          </p:cNvSpPr>
          <p:nvPr/>
        </p:nvSpPr>
        <p:spPr>
          <a:xfrm>
            <a:off x="749808" y="2542032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1E2A36"/>
                </a:solidFill>
              </a:rPr>
              <a:t>Préparer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6C43895-EC2A-4397-838D-7C6984313D64}"/>
              </a:ext>
            </a:extLst>
          </p:cNvPr>
          <p:cNvSpPr>
            <a:spLocks noGrp="1"/>
          </p:cNvSpPr>
          <p:nvPr/>
        </p:nvSpPr>
        <p:spPr>
          <a:xfrm>
            <a:off x="731520" y="28529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655F57"/>
                </a:solidFill>
              </a:rPr>
              <a:t>variables + one-hot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59A0AA2-649A-4974-9466-CB95F48DFB0C}"/>
              </a:ext>
            </a:extLst>
          </p:cNvPr>
          <p:cNvSpPr>
            <a:spLocks noGrp="1"/>
          </p:cNvSpPr>
          <p:nvPr/>
        </p:nvSpPr>
        <p:spPr>
          <a:xfrm>
            <a:off x="2926080" y="2148840"/>
            <a:ext cx="15087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0"/>
            </a:srgbClr>
          </a:solidFill>
          <a:ln w="1397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EDF01E7-49B9-42EA-88E4-0B9829D85AF5}"/>
              </a:ext>
            </a:extLst>
          </p:cNvPr>
          <p:cNvSpPr>
            <a:spLocks noGrp="1"/>
          </p:cNvSpPr>
          <p:nvPr/>
        </p:nvSpPr>
        <p:spPr>
          <a:xfrm>
            <a:off x="3017520" y="225856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FF7200"/>
                </a:solidFill>
              </a:rPr>
              <a:t>2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F874612-9AC4-4EB1-96FF-DF57D16E9DE9}"/>
              </a:ext>
            </a:extLst>
          </p:cNvPr>
          <p:cNvSpPr>
            <a:spLocks noGrp="1"/>
          </p:cNvSpPr>
          <p:nvPr/>
        </p:nvSpPr>
        <p:spPr>
          <a:xfrm>
            <a:off x="3035808" y="2542032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1E2A36"/>
                </a:solidFill>
              </a:rPr>
              <a:t>Séparer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95591EB-7CD7-4BBC-9F07-9BC195FA4527}"/>
              </a:ext>
            </a:extLst>
          </p:cNvPr>
          <p:cNvSpPr>
            <a:spLocks noGrp="1"/>
          </p:cNvSpPr>
          <p:nvPr/>
        </p:nvSpPr>
        <p:spPr>
          <a:xfrm>
            <a:off x="3017520" y="28529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655F57"/>
                </a:solidFill>
              </a:rPr>
              <a:t>train 67 % / test 33 %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083EE07-24A7-46AD-9110-F90BB7D2D522}"/>
              </a:ext>
            </a:extLst>
          </p:cNvPr>
          <p:cNvSpPr>
            <a:spLocks noGrp="1"/>
          </p:cNvSpPr>
          <p:nvPr/>
        </p:nvSpPr>
        <p:spPr>
          <a:xfrm>
            <a:off x="5212080" y="2148840"/>
            <a:ext cx="15087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0"/>
            </a:srgbClr>
          </a:solidFill>
          <a:ln w="1397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0CBB2B6-12BD-425B-A0BD-0D1E39A5E9C1}"/>
              </a:ext>
            </a:extLst>
          </p:cNvPr>
          <p:cNvSpPr>
            <a:spLocks noGrp="1"/>
          </p:cNvSpPr>
          <p:nvPr/>
        </p:nvSpPr>
        <p:spPr>
          <a:xfrm>
            <a:off x="5303520" y="225856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FF7200"/>
                </a:solidFill>
              </a:rPr>
              <a:t>3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9B3A36B-0C2F-4781-9BD6-FDB275A5FB91}"/>
              </a:ext>
            </a:extLst>
          </p:cNvPr>
          <p:cNvSpPr>
            <a:spLocks noGrp="1"/>
          </p:cNvSpPr>
          <p:nvPr/>
        </p:nvSpPr>
        <p:spPr>
          <a:xfrm>
            <a:off x="5321808" y="2542032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1E2A36"/>
                </a:solidFill>
              </a:rPr>
              <a:t>Évaluer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7DBBDC9-F362-4D0B-AFFF-6B9E4427B305}"/>
              </a:ext>
            </a:extLst>
          </p:cNvPr>
          <p:cNvSpPr>
            <a:spLocks noGrp="1"/>
          </p:cNvSpPr>
          <p:nvPr/>
        </p:nvSpPr>
        <p:spPr>
          <a:xfrm>
            <a:off x="5303520" y="28529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655F57"/>
                </a:solidFill>
              </a:rPr>
              <a:t>MAE, MAPE et R²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7450114-DD86-41EA-B2DE-482CD4841A33}"/>
              </a:ext>
            </a:extLst>
          </p:cNvPr>
          <p:cNvSpPr>
            <a:spLocks noGrp="1"/>
          </p:cNvSpPr>
          <p:nvPr/>
        </p:nvSpPr>
        <p:spPr>
          <a:xfrm>
            <a:off x="7498080" y="2148840"/>
            <a:ext cx="15087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0"/>
            </a:srgbClr>
          </a:solidFill>
          <a:ln w="1397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BEB2422-1FF1-4472-9338-0F78FC947F28}"/>
              </a:ext>
            </a:extLst>
          </p:cNvPr>
          <p:cNvSpPr>
            <a:spLocks noGrp="1"/>
          </p:cNvSpPr>
          <p:nvPr/>
        </p:nvSpPr>
        <p:spPr>
          <a:xfrm>
            <a:off x="7589520" y="225856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FF7200"/>
                </a:solidFill>
              </a:rPr>
              <a:t>4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CB865AA-8D8F-4E49-A3F3-3C660B9945E2}"/>
              </a:ext>
            </a:extLst>
          </p:cNvPr>
          <p:cNvSpPr>
            <a:spLocks noGrp="1"/>
          </p:cNvSpPr>
          <p:nvPr/>
        </p:nvSpPr>
        <p:spPr>
          <a:xfrm>
            <a:off x="7607808" y="2542032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1E2A36"/>
                </a:solidFill>
              </a:rPr>
              <a:t>Réentraîner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5DD2181-8D9F-474A-A0A5-1EA236501C4C}"/>
              </a:ext>
            </a:extLst>
          </p:cNvPr>
          <p:cNvSpPr>
            <a:spLocks noGrp="1"/>
          </p:cNvSpPr>
          <p:nvPr/>
        </p:nvSpPr>
        <p:spPr>
          <a:xfrm>
            <a:off x="7589520" y="28529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655F57"/>
                </a:solidFill>
              </a:rPr>
              <a:t>sans split, 100 %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EF6122B-AFDF-4C65-909C-E7BCBC78DE75}"/>
              </a:ext>
            </a:extLst>
          </p:cNvPr>
          <p:cNvSpPr>
            <a:spLocks noGrp="1"/>
          </p:cNvSpPr>
          <p:nvPr/>
        </p:nvSpPr>
        <p:spPr>
          <a:xfrm>
            <a:off x="9784080" y="2148840"/>
            <a:ext cx="15087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0"/>
            </a:srgbClr>
          </a:solidFill>
          <a:ln w="1397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5C5934B-2720-426E-9306-AD01DE3B272D}"/>
              </a:ext>
            </a:extLst>
          </p:cNvPr>
          <p:cNvSpPr>
            <a:spLocks noGrp="1"/>
          </p:cNvSpPr>
          <p:nvPr/>
        </p:nvSpPr>
        <p:spPr>
          <a:xfrm>
            <a:off x="9875520" y="225856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33A5B6"/>
                </a:solidFill>
              </a:rPr>
              <a:t>5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B0F302C-E4D4-4810-B635-846731B1F0F6}"/>
              </a:ext>
            </a:extLst>
          </p:cNvPr>
          <p:cNvSpPr>
            <a:spLocks noGrp="1"/>
          </p:cNvSpPr>
          <p:nvPr/>
        </p:nvSpPr>
        <p:spPr>
          <a:xfrm>
            <a:off x="9893808" y="2542032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1E2A36"/>
                </a:solidFill>
              </a:rPr>
              <a:t>Valoriser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5723B65-E696-4165-B3D3-5D35F5053AB6}"/>
              </a:ext>
            </a:extLst>
          </p:cNvPr>
          <p:cNvSpPr>
            <a:spLocks noGrp="1"/>
          </p:cNvSpPr>
          <p:nvPr/>
        </p:nvSpPr>
        <p:spPr>
          <a:xfrm>
            <a:off x="9875520" y="28529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655F57"/>
                </a:solidFill>
              </a:rPr>
              <a:t>portefeuille 2022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13D91EC-87FB-4C89-A795-9877BD737199}"/>
              </a:ext>
            </a:extLst>
          </p:cNvPr>
          <p:cNvSpPr>
            <a:spLocks noGrp="1"/>
          </p:cNvSpPr>
          <p:nvPr/>
        </p:nvSpPr>
        <p:spPr>
          <a:xfrm>
            <a:off x="754380" y="4684394"/>
            <a:ext cx="10424160" cy="2313431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500">
                <a:solidFill>
                  <a:srgbClr val="171A1F"/>
                </a:solidFill>
              </a:rPr>
              <a:t>Le taux d’erreur de 9,05 % provient du modèle évalué sur le jeu de test.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La prédiction finale utilise ensuite une seconde régression linéaire entraînée sans split sur l’ensemble des 26 180 transactions.</a:t>
            </a:r>
          </a:p>
        </p:txBody>
      </p:sp>
      <p:sp>
        <p:nvSpPr>
          <p:cNvPr id="30" name="Slide Number Placeholder 0">
            <a:extLst>
              <a:ext uri="{FF2B5EF4-FFF2-40B4-BE49-F238E27FC236}">
                <a16:creationId xmlns:a16="http://schemas.microsoft.com/office/drawing/2014/main" id="{B896CCD6-43A2-4AB6-A7AA-BEED99B9595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DB7BEEEC-A170-5376-2B6E-CB54687B0CB1}" type="slidenum">
              <a:rPr b="0"/>
              <a:t>10</a:t>
            </a:fld>
            <a:endParaRPr b="0"/>
          </a:p>
        </p:txBody>
      </p:sp>
      <p:pic>
        <p:nvPicPr>
          <p:cNvPr id="61" name="Imag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55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E3D277-3120-4283-94AF-AC9D4B721736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PERFORMANCE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F0F7B9-3DA4-463A-B7A8-5A8F5367A8F1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Le modèle respecte l’objectif inférieur à 10 %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E9CA5D-99CC-40B0-9CA2-69231F2935CD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2F37DD-4494-4247-9170-558F0D0AC16C}"/>
              </a:ext>
            </a:extLst>
          </p:cNvPr>
          <p:cNvSpPr>
            <a:spLocks noGrp="1"/>
          </p:cNvSpPr>
          <p:nvPr/>
        </p:nvSpPr>
        <p:spPr>
          <a:xfrm>
            <a:off x="868680" y="2267777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 dirty="0">
                <a:solidFill>
                  <a:srgbClr val="1E2A36"/>
                </a:solidFill>
              </a:rPr>
              <a:t>9,05 %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5CDB15E-92A0-4A82-9E26-8BCCED4260D8}"/>
              </a:ext>
            </a:extLst>
          </p:cNvPr>
          <p:cNvSpPr>
            <a:spLocks noGrp="1"/>
          </p:cNvSpPr>
          <p:nvPr/>
        </p:nvSpPr>
        <p:spPr>
          <a:xfrm>
            <a:off x="868680" y="2798129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655F57"/>
                </a:solidFill>
              </a:rPr>
              <a:t>MAPE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81AA3E-059E-41FB-B2A4-F6C5D2F06782}"/>
              </a:ext>
            </a:extLst>
          </p:cNvPr>
          <p:cNvSpPr>
            <a:spLocks noGrp="1"/>
          </p:cNvSpPr>
          <p:nvPr/>
        </p:nvSpPr>
        <p:spPr>
          <a:xfrm>
            <a:off x="3389103" y="2240279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FF7200"/>
                </a:solidFill>
              </a:rPr>
              <a:t>32,8 k€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543204-34BD-4209-AFF4-A1545142F09B}"/>
              </a:ext>
            </a:extLst>
          </p:cNvPr>
          <p:cNvSpPr>
            <a:spLocks noGrp="1"/>
          </p:cNvSpPr>
          <p:nvPr/>
        </p:nvSpPr>
        <p:spPr>
          <a:xfrm>
            <a:off x="3389103" y="2770631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655F57"/>
                </a:solidFill>
              </a:rPr>
              <a:t>MAE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1D67A08-9261-48D9-BE90-01D7C720C35F}"/>
              </a:ext>
            </a:extLst>
          </p:cNvPr>
          <p:cNvSpPr>
            <a:spLocks noGrp="1"/>
          </p:cNvSpPr>
          <p:nvPr/>
        </p:nvSpPr>
        <p:spPr>
          <a:xfrm>
            <a:off x="5909526" y="2267711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 dirty="0">
                <a:solidFill>
                  <a:srgbClr val="B88735"/>
                </a:solidFill>
              </a:rPr>
              <a:t>0,982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E2A251B-FA9D-4859-963F-DE531A7D9EA6}"/>
              </a:ext>
            </a:extLst>
          </p:cNvPr>
          <p:cNvSpPr>
            <a:spLocks noGrp="1"/>
          </p:cNvSpPr>
          <p:nvPr/>
        </p:nvSpPr>
        <p:spPr>
          <a:xfrm>
            <a:off x="5909526" y="2798063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655F57"/>
                </a:solidFill>
              </a:rPr>
              <a:t>R²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DCF7911-083E-42CC-8FDF-024D102F1481}"/>
              </a:ext>
            </a:extLst>
          </p:cNvPr>
          <p:cNvSpPr>
            <a:spLocks noGrp="1"/>
          </p:cNvSpPr>
          <p:nvPr/>
        </p:nvSpPr>
        <p:spPr>
          <a:xfrm>
            <a:off x="8528266" y="2240279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B9473D"/>
                </a:solidFill>
              </a:rPr>
              <a:t>8 640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8FAF69D-0EA0-4F96-BD6B-EAA665A81DFD}"/>
              </a:ext>
            </a:extLst>
          </p:cNvPr>
          <p:cNvSpPr>
            <a:spLocks noGrp="1"/>
          </p:cNvSpPr>
          <p:nvPr/>
        </p:nvSpPr>
        <p:spPr>
          <a:xfrm>
            <a:off x="8528266" y="2770631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655F57"/>
                </a:solidFill>
              </a:rPr>
              <a:t>observations dans le jeu de test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11B9538-46F1-433F-819D-E5085B626D58}"/>
              </a:ext>
            </a:extLst>
          </p:cNvPr>
          <p:cNvSpPr>
            <a:spLocks noGrp="1"/>
          </p:cNvSpPr>
          <p:nvPr/>
        </p:nvSpPr>
        <p:spPr>
          <a:xfrm>
            <a:off x="868680" y="4125511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33A5B6"/>
                </a:solidFill>
              </a:rPr>
              <a:t>INTERPRÉTATION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3A97290-E3D2-4A2F-8BA1-8F0E8209664C}"/>
              </a:ext>
            </a:extLst>
          </p:cNvPr>
          <p:cNvSpPr>
            <a:spLocks noGrp="1"/>
          </p:cNvSpPr>
          <p:nvPr/>
        </p:nvSpPr>
        <p:spPr>
          <a:xfrm>
            <a:off x="845820" y="4419733"/>
            <a:ext cx="5120640" cy="0"/>
          </a:xfrm>
          <a:prstGeom prst="line">
            <a:avLst/>
          </a:prstGeom>
          <a:noFill/>
          <a:ln w="1524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DAEDB1E-B6BC-4CCE-A495-25F6ADD55B48}"/>
              </a:ext>
            </a:extLst>
          </p:cNvPr>
          <p:cNvSpPr>
            <a:spLocks noGrp="1"/>
          </p:cNvSpPr>
          <p:nvPr/>
        </p:nvSpPr>
        <p:spPr>
          <a:xfrm>
            <a:off x="868680" y="4978413"/>
            <a:ext cx="10058400" cy="160020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500">
                <a:solidFill>
                  <a:srgbClr val="171A1F"/>
                </a:solidFill>
              </a:rPr>
              <a:t>La MAPE exprime l’erreur moyenne en pourcentage : l’objectif est atteint.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La MAE mesure l’écart moyen en euros.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Le R² indique que 98,2 % de la variation de valeur est expliquée par le modèle.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0077D69-C83A-424D-B7BF-E75A3534C37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30394428-F1DC-E5F6-DB0C-7DE31F3D8A23}" type="slidenum">
              <a:rPr b="0"/>
              <a:t>11</a:t>
            </a:fld>
            <a:endParaRPr b="0"/>
          </a:p>
        </p:txBody>
      </p:sp>
      <p:pic>
        <p:nvPicPr>
          <p:cNvPr id="42" name="Imag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2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B98F05-D554-4179-9AEB-02D94B8EE370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PRÉDICTION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6388D6-D126-4261-89FB-0ED5D2D52A8F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Valeurs prédites proches des valeurs réelles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D15C86A-F492-4E77-BF73-AA083A1C831F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F1255E-D94D-4731-9A1A-CB5B83F5143C}"/>
              </a:ext>
            </a:extLst>
          </p:cNvPr>
          <p:cNvSpPr>
            <a:spLocks noGrp="1"/>
          </p:cNvSpPr>
          <p:nvPr/>
        </p:nvSpPr>
        <p:spPr>
          <a:xfrm>
            <a:off x="868680" y="1501996"/>
            <a:ext cx="3840480" cy="320040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/>
          </a:bodyPr>
          <a:lstStyle/>
          <a:p>
            <a:pPr marL="0" indent="0">
              <a:buNone/>
            </a:pPr>
            <a:r>
              <a:rPr sz="1500" i="1" dirty="0" err="1">
                <a:solidFill>
                  <a:srgbClr val="655F57"/>
                </a:solidFill>
              </a:rPr>
              <a:t>Qualité</a:t>
            </a:r>
            <a:r>
              <a:rPr sz="1500" i="1" dirty="0">
                <a:solidFill>
                  <a:srgbClr val="655F57"/>
                </a:solidFill>
              </a:rPr>
              <a:t> </a:t>
            </a:r>
            <a:r>
              <a:rPr sz="1500" i="1" dirty="0" err="1">
                <a:solidFill>
                  <a:srgbClr val="655F57"/>
                </a:solidFill>
              </a:rPr>
              <a:t>d’ajustement</a:t>
            </a:r>
            <a:endParaRPr sz="1500" i="1" dirty="0">
              <a:solidFill>
                <a:srgbClr val="655F57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A0772ED-D9E6-4E42-BB95-D5C3D4D2AE03}"/>
              </a:ext>
            </a:extLst>
          </p:cNvPr>
          <p:cNvSpPr>
            <a:spLocks noGrp="1"/>
          </p:cNvSpPr>
          <p:nvPr/>
        </p:nvSpPr>
        <p:spPr>
          <a:xfrm>
            <a:off x="868680" y="2449069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 dirty="0">
                <a:solidFill>
                  <a:srgbClr val="FF7200"/>
                </a:solidFill>
              </a:rPr>
              <a:t>0,982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E01394D-A1A5-43BD-9679-676896D35C45}"/>
              </a:ext>
            </a:extLst>
          </p:cNvPr>
          <p:cNvSpPr>
            <a:spLocks noGrp="1"/>
          </p:cNvSpPr>
          <p:nvPr/>
        </p:nvSpPr>
        <p:spPr>
          <a:xfrm>
            <a:off x="2313746" y="251764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00" dirty="0">
                <a:solidFill>
                  <a:srgbClr val="655F57"/>
                </a:solidFill>
              </a:rPr>
              <a:t>coefficient de </a:t>
            </a:r>
            <a:r>
              <a:rPr sz="1100" dirty="0" err="1">
                <a:solidFill>
                  <a:srgbClr val="655F57"/>
                </a:solidFill>
              </a:rPr>
              <a:t>détermination</a:t>
            </a:r>
            <a:r>
              <a:rPr sz="1100" dirty="0">
                <a:solidFill>
                  <a:srgbClr val="655F57"/>
                </a:solidFill>
              </a:rPr>
              <a:t> R²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B849161-F59D-4F7C-A858-4F7E7658EAE3}"/>
              </a:ext>
            </a:extLst>
          </p:cNvPr>
          <p:cNvSpPr>
            <a:spLocks noGrp="1"/>
          </p:cNvSpPr>
          <p:nvPr/>
        </p:nvSpPr>
        <p:spPr>
          <a:xfrm>
            <a:off x="848360" y="5897882"/>
            <a:ext cx="10332720" cy="502920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 fontScale="96912"/>
          </a:bodyPr>
          <a:lstStyle/>
          <a:p>
            <a:pPr marL="0" indent="0">
              <a:buNone/>
            </a:pPr>
            <a:r>
              <a:rPr sz="1700" b="1">
                <a:solidFill>
                  <a:srgbClr val="1E2A36"/>
                </a:solidFill>
              </a:rPr>
              <a:t>La diagonale représente une prédiction parfaite. Quelques actifs de forte valeur concentrent les écarts les plus visibles.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13657E8-CE0C-4905-898D-806DA089881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4DB16885-0D3F-A391-B669-3211DB3B26E8}" type="slidenum">
              <a:rPr b="0"/>
              <a:t>12</a:t>
            </a:fld>
            <a:endParaRPr b="0"/>
          </a:p>
        </p:txBody>
      </p:sp>
      <p:pic>
        <p:nvPicPr>
          <p:cNvPr id="37" name="Imag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28546" y="1280829"/>
            <a:ext cx="4351214" cy="4363488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D2CC6D02-1067-1296-0733-AC69F4DEDDC3}"/>
              </a:ext>
            </a:extLst>
          </p:cNvPr>
          <p:cNvSpPr>
            <a:spLocks noGrp="1"/>
          </p:cNvSpPr>
          <p:nvPr/>
        </p:nvSpPr>
        <p:spPr>
          <a:xfrm>
            <a:off x="868680" y="3383281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 dirty="0">
                <a:solidFill>
                  <a:srgbClr val="FF7200"/>
                </a:solidFill>
              </a:rPr>
              <a:t>0,982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125B10C-C359-3753-CD54-5277F45B6440}"/>
              </a:ext>
            </a:extLst>
          </p:cNvPr>
          <p:cNvSpPr>
            <a:spLocks noGrp="1"/>
          </p:cNvSpPr>
          <p:nvPr/>
        </p:nvSpPr>
        <p:spPr>
          <a:xfrm>
            <a:off x="868680" y="425500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800" b="1" dirty="0">
                <a:solidFill>
                  <a:srgbClr val="FF7200"/>
                </a:solidFill>
              </a:rPr>
              <a:t>0,982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591286D8-1CB9-202B-B3B7-DB652C53B0B2}"/>
              </a:ext>
            </a:extLst>
          </p:cNvPr>
          <p:cNvSpPr>
            <a:spLocks noGrp="1"/>
          </p:cNvSpPr>
          <p:nvPr/>
        </p:nvSpPr>
        <p:spPr>
          <a:xfrm>
            <a:off x="2313746" y="3451861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fr-FR" sz="1100" dirty="0"/>
              <a:t>erreur absolue moyenne en pourcentage (MAPE)</a:t>
            </a:r>
            <a:endParaRPr sz="1100" dirty="0">
              <a:solidFill>
                <a:srgbClr val="655F57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22346A0-702A-D013-E6E5-0D89A282B075}"/>
              </a:ext>
            </a:extLst>
          </p:cNvPr>
          <p:cNvSpPr>
            <a:spLocks noGrp="1"/>
          </p:cNvSpPr>
          <p:nvPr/>
        </p:nvSpPr>
        <p:spPr>
          <a:xfrm>
            <a:off x="2313746" y="4317493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fr-FR" sz="1100" dirty="0"/>
              <a:t>erreur absolue moyenne (MAE)</a:t>
            </a:r>
            <a:endParaRPr sz="1100" dirty="0">
              <a:solidFill>
                <a:srgbClr val="655F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842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0F5C8F-9357-4B3F-A7A5-2525FD6D4CD2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ERREURS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0CDE13-22E9-479D-A33F-A84CCA6B56C7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Les écarts restent concentrés autour de zéro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146BBC1-BE67-4391-BCB8-6E574E2DD96C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F306194-375A-4B28-BE5B-A8594134C967}"/>
              </a:ext>
            </a:extLst>
          </p:cNvPr>
          <p:cNvSpPr>
            <a:spLocks noGrp="1"/>
          </p:cNvSpPr>
          <p:nvPr/>
        </p:nvSpPr>
        <p:spPr>
          <a:xfrm>
            <a:off x="7373112" y="232943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33A5B6"/>
                </a:solidFill>
              </a:rPr>
              <a:t>LECTURE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B734048-BFE9-48BA-82CD-455E3B9866A5}"/>
              </a:ext>
            </a:extLst>
          </p:cNvPr>
          <p:cNvSpPr>
            <a:spLocks noGrp="1"/>
          </p:cNvSpPr>
          <p:nvPr/>
        </p:nvSpPr>
        <p:spPr>
          <a:xfrm>
            <a:off x="7373112" y="2622042"/>
            <a:ext cx="3657600" cy="0"/>
          </a:xfrm>
          <a:prstGeom prst="line">
            <a:avLst/>
          </a:prstGeom>
          <a:noFill/>
          <a:ln w="1524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31196E9-D078-4F86-BFA6-CB2678C72DCC}"/>
              </a:ext>
            </a:extLst>
          </p:cNvPr>
          <p:cNvSpPr>
            <a:spLocks noGrp="1"/>
          </p:cNvSpPr>
          <p:nvPr/>
        </p:nvSpPr>
        <p:spPr>
          <a:xfrm>
            <a:off x="7418832" y="2740914"/>
            <a:ext cx="4206240" cy="219456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500">
                <a:solidFill>
                  <a:srgbClr val="171A1F"/>
                </a:solidFill>
              </a:rPr>
              <a:t>La distribution est centrée près de zéro.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Quelques erreurs extrêmes subsistent sur des actifs particuliers.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Une expertise complémentaire reste utile pour les biens les plus sensibles.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BA188BB-3DC3-44A6-AD7A-426C020E3F39}"/>
              </a:ext>
            </a:extLst>
          </p:cNvPr>
          <p:cNvSpPr>
            <a:spLocks noGrp="1"/>
          </p:cNvSpPr>
          <p:nvPr/>
        </p:nvSpPr>
        <p:spPr>
          <a:xfrm>
            <a:off x="1097280" y="6057900"/>
            <a:ext cx="7498080" cy="320040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/>
          </a:bodyPr>
          <a:lstStyle/>
          <a:p>
            <a:pPr marL="0" indent="0">
              <a:buNone/>
            </a:pPr>
            <a:r>
              <a:rPr sz="1300" i="1">
                <a:solidFill>
                  <a:srgbClr val="655F57"/>
                </a:solidFill>
              </a:rPr>
              <a:t>Distribution des erreurs sur le jeu de test.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CDA9ED2-FC6F-435E-B380-895E795C462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2DD23107-4986-8758-3A93-3D74F35908CC}" type="slidenum">
              <a:rPr b="0"/>
              <a:t>13</a:t>
            </a:fld>
            <a:endParaRPr b="0"/>
          </a:p>
        </p:txBody>
      </p:sp>
      <p:pic>
        <p:nvPicPr>
          <p:cNvPr id="37" name="Imag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66928" y="1417319"/>
            <a:ext cx="6738266" cy="401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106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B98F05-D554-4179-9AEB-02D94B8EE370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VALORISATION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6388D6-D126-4261-89FB-0ED5D2D52A8F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t>Le portefeuille est valorisé à 168,75 M€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D15C86A-F492-4E77-BF73-AA083A1C831F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B849161-F59D-4F7C-A858-4F7E7658EAE3}"/>
              </a:ext>
            </a:extLst>
          </p:cNvPr>
          <p:cNvSpPr>
            <a:spLocks noGrp="1"/>
          </p:cNvSpPr>
          <p:nvPr/>
        </p:nvSpPr>
        <p:spPr>
          <a:xfrm>
            <a:off x="868680" y="5715000"/>
            <a:ext cx="10332720" cy="502920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 fontScale="96912"/>
          </a:bodyPr>
          <a:lstStyle/>
          <a:p>
            <a:pPr marL="0" indent="0">
              <a:buNone/>
            </a:pPr>
            <a:r>
              <a:rPr sz="1700" b="1" dirty="0">
                <a:solidFill>
                  <a:srgbClr val="1E2A36"/>
                </a:solidFill>
              </a:rPr>
              <a:t>Le corporate </a:t>
            </a:r>
            <a:r>
              <a:rPr sz="1700" b="1" dirty="0" err="1">
                <a:solidFill>
                  <a:srgbClr val="1E2A36"/>
                </a:solidFill>
              </a:rPr>
              <a:t>représente</a:t>
            </a:r>
            <a:r>
              <a:rPr sz="1700" b="1" dirty="0">
                <a:solidFill>
                  <a:srgbClr val="1E2A36"/>
                </a:solidFill>
              </a:rPr>
              <a:t> 97,53 M€ </a:t>
            </a:r>
            <a:r>
              <a:rPr sz="1700" b="1" dirty="0" err="1">
                <a:solidFill>
                  <a:srgbClr val="1E2A36"/>
                </a:solidFill>
              </a:rPr>
              <a:t>contre</a:t>
            </a:r>
            <a:r>
              <a:rPr sz="1700" b="1" dirty="0">
                <a:solidFill>
                  <a:srgbClr val="1E2A36"/>
                </a:solidFill>
              </a:rPr>
              <a:t> 71,22 M€ pour les appartements. Ce segment </a:t>
            </a:r>
            <a:r>
              <a:rPr sz="1700" b="1" dirty="0" err="1">
                <a:solidFill>
                  <a:srgbClr val="1E2A36"/>
                </a:solidFill>
              </a:rPr>
              <a:t>constitue</a:t>
            </a:r>
            <a:r>
              <a:rPr sz="1700" b="1" dirty="0">
                <a:solidFill>
                  <a:srgbClr val="1E2A36"/>
                </a:solidFill>
              </a:rPr>
              <a:t> </a:t>
            </a:r>
            <a:r>
              <a:rPr sz="1700" b="1" dirty="0" err="1">
                <a:solidFill>
                  <a:srgbClr val="1E2A36"/>
                </a:solidFill>
              </a:rPr>
              <a:t>donc</a:t>
            </a:r>
            <a:r>
              <a:rPr sz="1700" b="1" dirty="0">
                <a:solidFill>
                  <a:srgbClr val="1E2A36"/>
                </a:solidFill>
              </a:rPr>
              <a:t> le principal </a:t>
            </a:r>
            <a:r>
              <a:rPr sz="1700" b="1" dirty="0" err="1">
                <a:solidFill>
                  <a:srgbClr val="1E2A36"/>
                </a:solidFill>
              </a:rPr>
              <a:t>enjeu</a:t>
            </a:r>
            <a:r>
              <a:rPr sz="1700" b="1" dirty="0">
                <a:solidFill>
                  <a:srgbClr val="1E2A36"/>
                </a:solidFill>
              </a:rPr>
              <a:t> de </a:t>
            </a:r>
            <a:r>
              <a:rPr sz="1700" b="1" dirty="0" err="1">
                <a:solidFill>
                  <a:srgbClr val="1E2A36"/>
                </a:solidFill>
              </a:rPr>
              <a:t>suivi</a:t>
            </a:r>
            <a:r>
              <a:rPr sz="1700" b="1" dirty="0">
                <a:solidFill>
                  <a:srgbClr val="1E2A36"/>
                </a:solidFill>
              </a:rPr>
              <a:t>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13657E8-CE0C-4905-898D-806DA089881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327921A4-25C4-3DB4-06B1-32693CEE2241}" type="slidenum">
              <a:rPr b="0"/>
              <a:t>14</a:t>
            </a:fld>
            <a:endParaRPr b="0"/>
          </a:p>
        </p:txBody>
      </p:sp>
      <p:pic>
        <p:nvPicPr>
          <p:cNvPr id="37" name="Imag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28409" y="1417319"/>
            <a:ext cx="6386885" cy="3783767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FC5DDF09-BB3D-91E6-54E2-1345E985A2A8}"/>
              </a:ext>
            </a:extLst>
          </p:cNvPr>
          <p:cNvSpPr>
            <a:spLocks noGrp="1"/>
          </p:cNvSpPr>
          <p:nvPr/>
        </p:nvSpPr>
        <p:spPr>
          <a:xfrm>
            <a:off x="868680" y="2028030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rgbClr val="FF7200"/>
                </a:solidFill>
              </a:rPr>
              <a:t>273</a:t>
            </a:r>
            <a:endParaRPr sz="2800" b="1" dirty="0">
              <a:solidFill>
                <a:srgbClr val="FF7200"/>
              </a:solidFill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48C844C7-BED7-7C15-C385-5BF305B2B19B}"/>
              </a:ext>
            </a:extLst>
          </p:cNvPr>
          <p:cNvSpPr>
            <a:spLocks noGrp="1"/>
          </p:cNvSpPr>
          <p:nvPr/>
        </p:nvSpPr>
        <p:spPr>
          <a:xfrm>
            <a:off x="868680" y="296224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rgbClr val="FF7200"/>
                </a:solidFill>
              </a:rPr>
              <a:t>57,8%</a:t>
            </a:r>
            <a:endParaRPr sz="2800" b="1" dirty="0">
              <a:solidFill>
                <a:srgbClr val="FF7200"/>
              </a:solidFill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43F51E7C-6B6D-B704-EEEB-1F91556B7D0C}"/>
              </a:ext>
            </a:extLst>
          </p:cNvPr>
          <p:cNvSpPr>
            <a:spLocks noGrp="1"/>
          </p:cNvSpPr>
          <p:nvPr/>
        </p:nvSpPr>
        <p:spPr>
          <a:xfrm>
            <a:off x="868680" y="3833969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rgbClr val="FF7200"/>
                </a:solidFill>
              </a:rPr>
              <a:t>42,2%</a:t>
            </a:r>
            <a:endParaRPr sz="2800" b="1" dirty="0">
              <a:solidFill>
                <a:srgbClr val="FF7200"/>
              </a:solidFill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2AA1EF77-745C-9549-CF0F-6A5B508965DE}"/>
              </a:ext>
            </a:extLst>
          </p:cNvPr>
          <p:cNvSpPr>
            <a:spLocks noGrp="1"/>
          </p:cNvSpPr>
          <p:nvPr/>
        </p:nvSpPr>
        <p:spPr>
          <a:xfrm>
            <a:off x="2425506" y="209661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lvl="0"/>
            <a:r>
              <a:rPr lang="fr-FR" sz="1100" dirty="0"/>
              <a:t>actifs valorisés </a:t>
            </a: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8B6D16B6-9753-0447-7979-29DAA9A82043}"/>
              </a:ext>
            </a:extLst>
          </p:cNvPr>
          <p:cNvSpPr>
            <a:spLocks noGrp="1"/>
          </p:cNvSpPr>
          <p:nvPr/>
        </p:nvSpPr>
        <p:spPr>
          <a:xfrm>
            <a:off x="2425506" y="303386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lvl="0"/>
            <a:r>
              <a:rPr lang="fr-FR" sz="1100" dirty="0"/>
              <a:t>part du </a:t>
            </a:r>
            <a:r>
              <a:rPr lang="fr-FR" sz="1100" dirty="0" err="1"/>
              <a:t>corporate</a:t>
            </a:r>
            <a:r>
              <a:rPr lang="fr-FR" sz="1100" dirty="0"/>
              <a:t> dans la valeur totale </a:t>
            </a: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0B44E1AF-89C6-2504-9EF1-C2BBB20BF89E}"/>
              </a:ext>
            </a:extLst>
          </p:cNvPr>
          <p:cNvSpPr>
            <a:spLocks noGrp="1"/>
          </p:cNvSpPr>
          <p:nvPr/>
        </p:nvSpPr>
        <p:spPr>
          <a:xfrm>
            <a:off x="2425506" y="390254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fr-FR" sz="1100" dirty="0"/>
              <a:t>part des appartements dans la valeur totale</a:t>
            </a:r>
            <a:endParaRPr sz="1100" dirty="0">
              <a:solidFill>
                <a:srgbClr val="655F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842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0C9DF8-A636-460D-9D60-A60A8471B184}"/>
              </a:ext>
            </a:extLst>
          </p:cNvPr>
          <p:cNvSpPr>
            <a:spLocks noGrp="1"/>
          </p:cNvSpPr>
          <p:nvPr/>
        </p:nvSpPr>
        <p:spPr>
          <a:xfrm>
            <a:off x="658368" y="914400"/>
            <a:ext cx="868680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FFFFF"/>
                </a:solidFill>
              </a:rPr>
              <a:t>Classification automatique des biens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1095DA-F85D-4A65-95B8-E8E187166D9A}"/>
              </a:ext>
            </a:extLst>
          </p:cNvPr>
          <p:cNvSpPr>
            <a:spLocks noGrp="1"/>
          </p:cNvSpPr>
          <p:nvPr/>
        </p:nvSpPr>
        <p:spPr>
          <a:xfrm>
            <a:off x="658368" y="164592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FF7200"/>
                </a:solidFill>
              </a:rPr>
              <a:t>Les Plus Beaux Logis de Paris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F629FE-75D8-4757-A0DD-4F30D33EA613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EDEAE2"/>
                </a:solidFill>
              </a:rPr>
              <a:t>Partie 2 — Segmentation K-means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BB65E6-805B-4E72-B834-05EA7D6716A8}"/>
              </a:ext>
            </a:extLst>
          </p:cNvPr>
          <p:cNvSpPr>
            <a:spLocks noGrp="1"/>
          </p:cNvSpPr>
          <p:nvPr/>
        </p:nvSpPr>
        <p:spPr>
          <a:xfrm>
            <a:off x="685800" y="5303520"/>
            <a:ext cx="749808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D8D2C5"/>
                </a:solidFill>
              </a:rPr>
              <a:t>40 biens à classer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1957B7-6B8C-495B-BB10-3732A1D9FF1F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D8D2C5"/>
                </a:solidFill>
              </a:rPr>
              <a:t>Paco Humbert</a:t>
            </a:r>
          </a:p>
        </p:txBody>
      </p:sp>
      <p:pic>
        <p:nvPicPr>
          <p:cNvPr id="15" name="Imag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81143"/>
            <a:ext cx="1640152" cy="8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1C5C49-8573-4D73-9FBF-F76DAF5014BD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CONTEXTE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CE20CC-0C78-4D60-AFD0-11F773AF4D1B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Objectif de la classification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BD80D4-DB51-45D2-9849-722C15E7C9F7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EBF31E-D2AB-48DE-A3A9-D58F7CDC4521}"/>
              </a:ext>
            </a:extLst>
          </p:cNvPr>
          <p:cNvSpPr>
            <a:spLocks noGrp="1"/>
          </p:cNvSpPr>
          <p:nvPr/>
        </p:nvSpPr>
        <p:spPr>
          <a:xfrm>
            <a:off x="731520" y="1837944"/>
            <a:ext cx="10424160" cy="502920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 fontScale="85293"/>
          </a:bodyPr>
          <a:lstStyle/>
          <a:p>
            <a:pPr marL="0" indent="0">
              <a:buNone/>
            </a:pPr>
            <a:r>
              <a:rPr sz="2300" b="1">
                <a:solidFill>
                  <a:srgbClr val="1E2A36"/>
                </a:solidFill>
              </a:rPr>
              <a:t>Attribuer automatiquement un type à 40 biens du 19e arrondissement sans libellé initial.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5EB8DBA-32D8-4F44-BB26-9B2636F67E3E}"/>
              </a:ext>
            </a:extLst>
          </p:cNvPr>
          <p:cNvSpPr>
            <a:spLocks noGrp="1"/>
          </p:cNvSpPr>
          <p:nvPr/>
        </p:nvSpPr>
        <p:spPr>
          <a:xfrm>
            <a:off x="803950" y="2995382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33A5B6"/>
                </a:solidFill>
              </a:rPr>
              <a:t>DONNÉES DISPONIBLES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4A2639B-EA06-44F1-86BD-076FF300D6B8}"/>
              </a:ext>
            </a:extLst>
          </p:cNvPr>
          <p:cNvSpPr>
            <a:spLocks noGrp="1"/>
          </p:cNvSpPr>
          <p:nvPr/>
        </p:nvSpPr>
        <p:spPr>
          <a:xfrm>
            <a:off x="822960" y="3288471"/>
            <a:ext cx="4297680" cy="0"/>
          </a:xfrm>
          <a:prstGeom prst="line">
            <a:avLst/>
          </a:prstGeom>
          <a:noFill/>
          <a:ln w="1524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E20635-AEA9-416C-A795-D53911B36F09}"/>
              </a:ext>
            </a:extLst>
          </p:cNvPr>
          <p:cNvSpPr>
            <a:spLocks noGrp="1"/>
          </p:cNvSpPr>
          <p:nvPr/>
        </p:nvSpPr>
        <p:spPr>
          <a:xfrm>
            <a:off x="822960" y="3633296"/>
            <a:ext cx="5120640" cy="201168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600">
                <a:solidFill>
                  <a:srgbClr val="171A1F"/>
                </a:solidFill>
              </a:rPr>
              <a:t>Valeur foncière et surface réelle.</a:t>
            </a:r>
          </a:p>
          <a:p>
            <a:endParaRPr sz="1600">
              <a:solidFill>
                <a:srgbClr val="171A1F"/>
              </a:solidFill>
            </a:endParaRPr>
          </a:p>
          <a:p>
            <a:r>
              <a:rPr sz="1600">
                <a:solidFill>
                  <a:srgbClr val="171A1F"/>
                </a:solidFill>
              </a:rPr>
              <a:t>Tous les biens se trouvent dans le 19e.</a:t>
            </a:r>
          </a:p>
          <a:p>
            <a:endParaRPr sz="1600">
              <a:solidFill>
                <a:srgbClr val="171A1F"/>
              </a:solidFill>
            </a:endParaRPr>
          </a:p>
          <a:p>
            <a:r>
              <a:rPr sz="1600">
                <a:solidFill>
                  <a:srgbClr val="171A1F"/>
                </a:solidFill>
              </a:rPr>
              <a:t>Variable calculée : prix au m².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FCAB9AF-5375-481C-B2B3-B818D63A77F6}"/>
              </a:ext>
            </a:extLst>
          </p:cNvPr>
          <p:cNvSpPr>
            <a:spLocks noGrp="1"/>
          </p:cNvSpPr>
          <p:nvPr/>
        </p:nvSpPr>
        <p:spPr>
          <a:xfrm>
            <a:off x="6446520" y="2995382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33A5B6"/>
                </a:solidFill>
              </a:rPr>
              <a:t>PRINCIPE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07366F8-45F0-49D1-84B6-9150AA3B2C74}"/>
              </a:ext>
            </a:extLst>
          </p:cNvPr>
          <p:cNvSpPr>
            <a:spLocks noGrp="1"/>
          </p:cNvSpPr>
          <p:nvPr/>
        </p:nvSpPr>
        <p:spPr>
          <a:xfrm>
            <a:off x="6446520" y="3292321"/>
            <a:ext cx="4389120" cy="0"/>
          </a:xfrm>
          <a:prstGeom prst="line">
            <a:avLst/>
          </a:prstGeom>
          <a:noFill/>
          <a:ln w="1524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03C0061-915E-4AB5-8D24-0ECE481EEA75}"/>
              </a:ext>
            </a:extLst>
          </p:cNvPr>
          <p:cNvSpPr>
            <a:spLocks noGrp="1"/>
          </p:cNvSpPr>
          <p:nvPr/>
        </p:nvSpPr>
        <p:spPr>
          <a:xfrm>
            <a:off x="6446520" y="3639312"/>
            <a:ext cx="4754880" cy="201168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600">
                <a:solidFill>
                  <a:srgbClr val="171A1F"/>
                </a:solidFill>
              </a:rPr>
              <a:t>Créer deux groupes avec K-means.</a:t>
            </a:r>
          </a:p>
          <a:p>
            <a:endParaRPr sz="1600">
              <a:solidFill>
                <a:srgbClr val="171A1F"/>
              </a:solidFill>
            </a:endParaRPr>
          </a:p>
          <a:p>
            <a:r>
              <a:rPr sz="1600">
                <a:solidFill>
                  <a:srgbClr val="171A1F"/>
                </a:solidFill>
              </a:rPr>
              <a:t>Associer les centres aux niveaux historiques 2021.</a:t>
            </a:r>
          </a:p>
          <a:p>
            <a:endParaRPr sz="1600">
              <a:solidFill>
                <a:srgbClr val="171A1F"/>
              </a:solidFill>
            </a:endParaRPr>
          </a:p>
          <a:p>
            <a:r>
              <a:rPr sz="1600">
                <a:solidFill>
                  <a:srgbClr val="171A1F"/>
                </a:solidFill>
              </a:rPr>
              <a:t>Exporter les 40 prédictions.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9E0910A-BEFE-47C1-9382-67A5A752971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DC9C7607-4BA3-B4DC-A00F-2E67A9FCFF7E}" type="slidenum">
              <a:rPr b="0"/>
              <a:t>16</a:t>
            </a:fld>
            <a:endParaRPr b="0"/>
          </a:p>
        </p:txBody>
      </p:sp>
      <p:pic>
        <p:nvPicPr>
          <p:cNvPr id="38" name="Imag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889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83D9D6-734F-45AB-B6F6-625651D69AB0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MÉTHODE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E781AB-BB2A-42B8-9417-787DF0A7240E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K-means segmente les biens en cinq étapes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22758B9-9AAD-4D65-9893-40A4E752EB1C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B7DE59B-7C90-4F92-8C25-6C36BAF3DC1D}"/>
              </a:ext>
            </a:extLst>
          </p:cNvPr>
          <p:cNvSpPr>
            <a:spLocks noGrp="1"/>
          </p:cNvSpPr>
          <p:nvPr/>
        </p:nvSpPr>
        <p:spPr>
          <a:xfrm>
            <a:off x="2011680" y="2743200"/>
            <a:ext cx="868680" cy="0"/>
          </a:xfrm>
          <a:prstGeom prst="line">
            <a:avLst/>
          </a:prstGeom>
          <a:noFill/>
          <a:ln w="17780">
            <a:solidFill>
              <a:srgbClr val="D8D2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0753D77-3FB1-4726-A537-BA73750BA607}"/>
              </a:ext>
            </a:extLst>
          </p:cNvPr>
          <p:cNvSpPr>
            <a:spLocks noGrp="1"/>
          </p:cNvSpPr>
          <p:nvPr/>
        </p:nvSpPr>
        <p:spPr>
          <a:xfrm>
            <a:off x="4297680" y="2743200"/>
            <a:ext cx="868680" cy="0"/>
          </a:xfrm>
          <a:prstGeom prst="line">
            <a:avLst/>
          </a:prstGeom>
          <a:noFill/>
          <a:ln w="17780">
            <a:solidFill>
              <a:srgbClr val="D8D2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F620475-227C-4595-B763-2F1CBE8CEEF5}"/>
              </a:ext>
            </a:extLst>
          </p:cNvPr>
          <p:cNvSpPr>
            <a:spLocks noGrp="1"/>
          </p:cNvSpPr>
          <p:nvPr/>
        </p:nvSpPr>
        <p:spPr>
          <a:xfrm>
            <a:off x="6583680" y="2743200"/>
            <a:ext cx="868680" cy="0"/>
          </a:xfrm>
          <a:prstGeom prst="line">
            <a:avLst/>
          </a:prstGeom>
          <a:noFill/>
          <a:ln w="17780">
            <a:solidFill>
              <a:srgbClr val="D8D2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A75BB27-515D-4A92-9C94-4057331D39D6}"/>
              </a:ext>
            </a:extLst>
          </p:cNvPr>
          <p:cNvSpPr>
            <a:spLocks noGrp="1"/>
          </p:cNvSpPr>
          <p:nvPr/>
        </p:nvSpPr>
        <p:spPr>
          <a:xfrm>
            <a:off x="8869680" y="2743200"/>
            <a:ext cx="868680" cy="0"/>
          </a:xfrm>
          <a:prstGeom prst="line">
            <a:avLst/>
          </a:prstGeom>
          <a:noFill/>
          <a:ln w="17780">
            <a:solidFill>
              <a:srgbClr val="D8D2C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9B85939-C727-40AE-930B-2C6C6450D276}"/>
              </a:ext>
            </a:extLst>
          </p:cNvPr>
          <p:cNvSpPr>
            <a:spLocks noGrp="1"/>
          </p:cNvSpPr>
          <p:nvPr/>
        </p:nvSpPr>
        <p:spPr>
          <a:xfrm>
            <a:off x="640080" y="2148840"/>
            <a:ext cx="15087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0"/>
            </a:srgbClr>
          </a:solidFill>
          <a:ln w="13970">
            <a:solidFill>
              <a:srgbClr val="FF72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11492DD-F193-4879-8A23-7A4FE7AC1263}"/>
              </a:ext>
            </a:extLst>
          </p:cNvPr>
          <p:cNvSpPr>
            <a:spLocks noGrp="1"/>
          </p:cNvSpPr>
          <p:nvPr/>
        </p:nvSpPr>
        <p:spPr>
          <a:xfrm>
            <a:off x="731520" y="225856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FF7200"/>
                </a:solidFill>
              </a:rPr>
              <a:t>1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D289201-2E86-497A-91CC-C112BA220B24}"/>
              </a:ext>
            </a:extLst>
          </p:cNvPr>
          <p:cNvSpPr>
            <a:spLocks noGrp="1"/>
          </p:cNvSpPr>
          <p:nvPr/>
        </p:nvSpPr>
        <p:spPr>
          <a:xfrm>
            <a:off x="749808" y="2542032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1E2A36"/>
                </a:solidFill>
              </a:rPr>
              <a:t>Importer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6C43895-EC2A-4397-838D-7C6984313D64}"/>
              </a:ext>
            </a:extLst>
          </p:cNvPr>
          <p:cNvSpPr>
            <a:spLocks noGrp="1"/>
          </p:cNvSpPr>
          <p:nvPr/>
        </p:nvSpPr>
        <p:spPr>
          <a:xfrm>
            <a:off x="731520" y="28529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655F57"/>
                </a:solidFill>
              </a:rPr>
              <a:t>40 biens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59A0AA2-649A-4974-9466-CB95F48DFB0C}"/>
              </a:ext>
            </a:extLst>
          </p:cNvPr>
          <p:cNvSpPr>
            <a:spLocks noGrp="1"/>
          </p:cNvSpPr>
          <p:nvPr/>
        </p:nvSpPr>
        <p:spPr>
          <a:xfrm>
            <a:off x="2926080" y="2148840"/>
            <a:ext cx="15087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0"/>
            </a:srgbClr>
          </a:solidFill>
          <a:ln w="1397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EDF01E7-49B9-42EA-88E4-0B9829D85AF5}"/>
              </a:ext>
            </a:extLst>
          </p:cNvPr>
          <p:cNvSpPr>
            <a:spLocks noGrp="1"/>
          </p:cNvSpPr>
          <p:nvPr/>
        </p:nvSpPr>
        <p:spPr>
          <a:xfrm>
            <a:off x="3017520" y="225856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FF7200"/>
                </a:solidFill>
              </a:rPr>
              <a:t>2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F874612-9AC4-4EB1-96FF-DF57D16E9DE9}"/>
              </a:ext>
            </a:extLst>
          </p:cNvPr>
          <p:cNvSpPr>
            <a:spLocks noGrp="1"/>
          </p:cNvSpPr>
          <p:nvPr/>
        </p:nvSpPr>
        <p:spPr>
          <a:xfrm>
            <a:off x="3035808" y="2542032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1E2A36"/>
                </a:solidFill>
              </a:rPr>
              <a:t>Calculer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95591EB-7CD7-4BBC-9F07-9BC195FA4527}"/>
              </a:ext>
            </a:extLst>
          </p:cNvPr>
          <p:cNvSpPr>
            <a:spLocks noGrp="1"/>
          </p:cNvSpPr>
          <p:nvPr/>
        </p:nvSpPr>
        <p:spPr>
          <a:xfrm>
            <a:off x="3017520" y="28529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655F57"/>
                </a:solidFill>
              </a:rPr>
              <a:t>prix au m²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083EE07-24A7-46AD-9110-F90BB7D2D522}"/>
              </a:ext>
            </a:extLst>
          </p:cNvPr>
          <p:cNvSpPr>
            <a:spLocks noGrp="1"/>
          </p:cNvSpPr>
          <p:nvPr/>
        </p:nvSpPr>
        <p:spPr>
          <a:xfrm>
            <a:off x="5212080" y="2148840"/>
            <a:ext cx="15087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0"/>
            </a:srgbClr>
          </a:solidFill>
          <a:ln w="1397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0CBB2B6-12BD-425B-A0BD-0D1E39A5E9C1}"/>
              </a:ext>
            </a:extLst>
          </p:cNvPr>
          <p:cNvSpPr>
            <a:spLocks noGrp="1"/>
          </p:cNvSpPr>
          <p:nvPr/>
        </p:nvSpPr>
        <p:spPr>
          <a:xfrm>
            <a:off x="5303520" y="225856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FF7200"/>
                </a:solidFill>
              </a:rPr>
              <a:t>3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9B3A36B-0C2F-4781-9BD6-FDB275A5FB91}"/>
              </a:ext>
            </a:extLst>
          </p:cNvPr>
          <p:cNvSpPr>
            <a:spLocks noGrp="1"/>
          </p:cNvSpPr>
          <p:nvPr/>
        </p:nvSpPr>
        <p:spPr>
          <a:xfrm>
            <a:off x="5321808" y="2542032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1E2A36"/>
                </a:solidFill>
              </a:rPr>
              <a:t>Entraîner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7DBBDC9-F362-4D0B-AFFF-6B9E4427B305}"/>
              </a:ext>
            </a:extLst>
          </p:cNvPr>
          <p:cNvSpPr>
            <a:spLocks noGrp="1"/>
          </p:cNvSpPr>
          <p:nvPr/>
        </p:nvSpPr>
        <p:spPr>
          <a:xfrm>
            <a:off x="5303520" y="28529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655F57"/>
                </a:solidFill>
              </a:rPr>
              <a:t>K = 2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7450114-DD86-41EA-B2DE-482CD4841A33}"/>
              </a:ext>
            </a:extLst>
          </p:cNvPr>
          <p:cNvSpPr>
            <a:spLocks noGrp="1"/>
          </p:cNvSpPr>
          <p:nvPr/>
        </p:nvSpPr>
        <p:spPr>
          <a:xfrm>
            <a:off x="7498080" y="2148840"/>
            <a:ext cx="15087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0"/>
            </a:srgbClr>
          </a:solidFill>
          <a:ln w="1397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BEB2422-1FF1-4472-9338-0F78FC947F28}"/>
              </a:ext>
            </a:extLst>
          </p:cNvPr>
          <p:cNvSpPr>
            <a:spLocks noGrp="1"/>
          </p:cNvSpPr>
          <p:nvPr/>
        </p:nvSpPr>
        <p:spPr>
          <a:xfrm>
            <a:off x="7589520" y="225856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FF7200"/>
                </a:solidFill>
              </a:rPr>
              <a:t>4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CB865AA-8D8F-4E49-A3F3-3C660B9945E2}"/>
              </a:ext>
            </a:extLst>
          </p:cNvPr>
          <p:cNvSpPr>
            <a:spLocks noGrp="1"/>
          </p:cNvSpPr>
          <p:nvPr/>
        </p:nvSpPr>
        <p:spPr>
          <a:xfrm>
            <a:off x="7607808" y="2542032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1E2A36"/>
                </a:solidFill>
              </a:rPr>
              <a:t>Interpréter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5DD2181-8D9F-474A-A0A5-1EA236501C4C}"/>
              </a:ext>
            </a:extLst>
          </p:cNvPr>
          <p:cNvSpPr>
            <a:spLocks noGrp="1"/>
          </p:cNvSpPr>
          <p:nvPr/>
        </p:nvSpPr>
        <p:spPr>
          <a:xfrm>
            <a:off x="7589520" y="28529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655F57"/>
                </a:solidFill>
              </a:rPr>
              <a:t>centres vs 2021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EF6122B-AFDF-4C65-909C-E7BCBC78DE75}"/>
              </a:ext>
            </a:extLst>
          </p:cNvPr>
          <p:cNvSpPr>
            <a:spLocks noGrp="1"/>
          </p:cNvSpPr>
          <p:nvPr/>
        </p:nvSpPr>
        <p:spPr>
          <a:xfrm>
            <a:off x="9784080" y="2148840"/>
            <a:ext cx="15087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0"/>
            </a:srgbClr>
          </a:solidFill>
          <a:ln w="1397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5C5934B-2720-426E-9306-AD01DE3B272D}"/>
              </a:ext>
            </a:extLst>
          </p:cNvPr>
          <p:cNvSpPr>
            <a:spLocks noGrp="1"/>
          </p:cNvSpPr>
          <p:nvPr/>
        </p:nvSpPr>
        <p:spPr>
          <a:xfrm>
            <a:off x="9875520" y="2258568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33A5B6"/>
                </a:solidFill>
              </a:rPr>
              <a:t>5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B0F302C-E4D4-4810-B635-846731B1F0F6}"/>
              </a:ext>
            </a:extLst>
          </p:cNvPr>
          <p:cNvSpPr>
            <a:spLocks noGrp="1"/>
          </p:cNvSpPr>
          <p:nvPr/>
        </p:nvSpPr>
        <p:spPr>
          <a:xfrm>
            <a:off x="9893808" y="2542032"/>
            <a:ext cx="1261872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 b="1">
                <a:solidFill>
                  <a:srgbClr val="1E2A36"/>
                </a:solidFill>
              </a:rPr>
              <a:t>Exporter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5723B65-E696-4165-B3D3-5D35F5053AB6}"/>
              </a:ext>
            </a:extLst>
          </p:cNvPr>
          <p:cNvSpPr>
            <a:spLocks noGrp="1"/>
          </p:cNvSpPr>
          <p:nvPr/>
        </p:nvSpPr>
        <p:spPr>
          <a:xfrm>
            <a:off x="9875520" y="285292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00">
                <a:solidFill>
                  <a:srgbClr val="655F57"/>
                </a:solidFill>
              </a:rPr>
              <a:t>40 prédictions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13D91EC-87FB-4C89-A795-9877BD737199}"/>
              </a:ext>
            </a:extLst>
          </p:cNvPr>
          <p:cNvSpPr>
            <a:spLocks noGrp="1"/>
          </p:cNvSpPr>
          <p:nvPr/>
        </p:nvSpPr>
        <p:spPr>
          <a:xfrm>
            <a:off x="754380" y="4684394"/>
            <a:ext cx="10424160" cy="2313431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500">
                <a:solidFill>
                  <a:srgbClr val="171A1F"/>
                </a:solidFill>
              </a:rPr>
              <a:t>La méthode est non supervisée : elle regroupe les biens selon leur proximité sans connaître leur type réel au départ.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Le prix au m² est la variable discriminante, car la localisation et la date sont identiques pour tout l’échantillon.</a:t>
            </a:r>
          </a:p>
        </p:txBody>
      </p:sp>
      <p:sp>
        <p:nvSpPr>
          <p:cNvPr id="30" name="Slide Number Placeholder 0">
            <a:extLst>
              <a:ext uri="{FF2B5EF4-FFF2-40B4-BE49-F238E27FC236}">
                <a16:creationId xmlns:a16="http://schemas.microsoft.com/office/drawing/2014/main" id="{B896CCD6-43A2-4AB6-A7AA-BEED99B9595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90F7333B-44AC-F7E9-D49D-FE92F45E0477}" type="slidenum">
              <a:rPr b="0"/>
              <a:t>17</a:t>
            </a:fld>
            <a:endParaRPr b="0"/>
          </a:p>
        </p:txBody>
      </p:sp>
      <p:pic>
        <p:nvPicPr>
          <p:cNvPr id="61" name="Imag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55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0F5C8F-9357-4B3F-A7A5-2525FD6D4CD2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RÉSULTAT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0CDE13-22E9-479D-A33F-A84CCA6B56C7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Deux groupes nettement séparés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146BBC1-BE67-4391-BCB8-6E574E2DD96C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F306194-375A-4B28-BE5B-A8594134C967}"/>
              </a:ext>
            </a:extLst>
          </p:cNvPr>
          <p:cNvSpPr>
            <a:spLocks noGrp="1"/>
          </p:cNvSpPr>
          <p:nvPr/>
        </p:nvSpPr>
        <p:spPr>
          <a:xfrm>
            <a:off x="7287768" y="2217094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33A5B6"/>
                </a:solidFill>
              </a:rPr>
              <a:t>LECTURE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B734048-BFE9-48BA-82CD-455E3B9866A5}"/>
              </a:ext>
            </a:extLst>
          </p:cNvPr>
          <p:cNvSpPr>
            <a:spLocks noGrp="1"/>
          </p:cNvSpPr>
          <p:nvPr/>
        </p:nvSpPr>
        <p:spPr>
          <a:xfrm>
            <a:off x="7287768" y="2509702"/>
            <a:ext cx="3657600" cy="0"/>
          </a:xfrm>
          <a:prstGeom prst="line">
            <a:avLst/>
          </a:prstGeom>
          <a:noFill/>
          <a:ln w="1524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31196E9-D078-4F86-BFA6-CB2678C72DCC}"/>
              </a:ext>
            </a:extLst>
          </p:cNvPr>
          <p:cNvSpPr>
            <a:spLocks noGrp="1"/>
          </p:cNvSpPr>
          <p:nvPr/>
        </p:nvSpPr>
        <p:spPr>
          <a:xfrm>
            <a:off x="7333488" y="2628574"/>
            <a:ext cx="4206240" cy="219456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500">
                <a:solidFill>
                  <a:srgbClr val="171A1F"/>
                </a:solidFill>
              </a:rPr>
              <a:t>20 biens sont affectés à chaque groupe.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Centre bas : environ 7 409 €/m², interprété comme appartement.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Centre haut : environ 9 807 €/m², interprété comme local commercial.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Score de silhouette : 0,909.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CDA9ED2-FC6F-435E-B380-895E795C462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B1C6C81E-38B9-7560-621D-5A151A79DF9B}" type="slidenum">
              <a:rPr b="0"/>
              <a:t>18</a:t>
            </a:fld>
            <a:endParaRPr b="0"/>
          </a:p>
        </p:txBody>
      </p:sp>
      <p:pic>
        <p:nvPicPr>
          <p:cNvPr id="37" name="Imag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1800" y="1417319"/>
            <a:ext cx="6703347" cy="399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106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8B9DDF-CD17-4362-A79D-CB6AE49CCDA4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VALIDATION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C30231-BFF2-4995-84EA-443358E427B9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La classification est vérifiée sur l’historique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95F2C4A-C008-4681-8F79-BFD34D540690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14D75E-7AA1-4458-9C8D-DA8AFB0661F5}"/>
              </a:ext>
            </a:extLst>
          </p:cNvPr>
          <p:cNvSpPr>
            <a:spLocks noGrp="1"/>
          </p:cNvSpPr>
          <p:nvPr/>
        </p:nvSpPr>
        <p:spPr>
          <a:xfrm>
            <a:off x="768096" y="1554480"/>
            <a:ext cx="207568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 b="1">
                <a:latin typeface="Aptos"/>
                <a:ea typeface="Aptos"/>
                <a:cs typeface="Aptos"/>
              </a:rPr>
              <a:t>Contrôle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AB5948-F009-4E2B-81BB-8B7C05525C85}"/>
              </a:ext>
            </a:extLst>
          </p:cNvPr>
          <p:cNvSpPr>
            <a:spLocks noGrp="1"/>
          </p:cNvSpPr>
          <p:nvPr/>
        </p:nvSpPr>
        <p:spPr>
          <a:xfrm>
            <a:off x="2916936" y="1554480"/>
            <a:ext cx="395020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 b="1">
                <a:latin typeface="Aptos"/>
                <a:ea typeface="Aptos"/>
                <a:cs typeface="Aptos"/>
              </a:rPr>
              <a:t>Statut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1B77E57-D8B7-4C1C-A50D-30143EF8A9FF}"/>
              </a:ext>
            </a:extLst>
          </p:cNvPr>
          <p:cNvSpPr>
            <a:spLocks noGrp="1"/>
          </p:cNvSpPr>
          <p:nvPr/>
        </p:nvSpPr>
        <p:spPr>
          <a:xfrm>
            <a:off x="6940296" y="1554480"/>
            <a:ext cx="454456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 b="1">
                <a:latin typeface="Aptos"/>
                <a:ea typeface="Aptos"/>
                <a:cs typeface="Aptos"/>
              </a:rPr>
              <a:t>Décision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793CBCB-961E-47C7-AD2E-3EDACD3BAE69}"/>
              </a:ext>
            </a:extLst>
          </p:cNvPr>
          <p:cNvSpPr>
            <a:spLocks noGrp="1"/>
          </p:cNvSpPr>
          <p:nvPr/>
        </p:nvSpPr>
        <p:spPr>
          <a:xfrm>
            <a:off x="731520" y="2066544"/>
            <a:ext cx="10789920" cy="0"/>
          </a:xfrm>
          <a:prstGeom prst="line">
            <a:avLst/>
          </a:prstGeom>
          <a:noFill/>
          <a:ln w="13970">
            <a:solidFill>
              <a:srgbClr val="1E2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35DBCC-C6F4-41A0-B064-70E856471C0B}"/>
              </a:ext>
            </a:extLst>
          </p:cNvPr>
          <p:cNvSpPr>
            <a:spLocks noGrp="1"/>
          </p:cNvSpPr>
          <p:nvPr/>
        </p:nvSpPr>
        <p:spPr>
          <a:xfrm>
            <a:off x="768096" y="2112264"/>
            <a:ext cx="207568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Prédictions exportées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C81836D-9CA7-438D-BC95-889636600887}"/>
              </a:ext>
            </a:extLst>
          </p:cNvPr>
          <p:cNvSpPr>
            <a:spLocks noGrp="1"/>
          </p:cNvSpPr>
          <p:nvPr/>
        </p:nvSpPr>
        <p:spPr>
          <a:xfrm>
            <a:off x="2916936" y="2112264"/>
            <a:ext cx="395020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40 biens sur 40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E122663-FAC4-455F-BED4-2392923D0BB4}"/>
              </a:ext>
            </a:extLst>
          </p:cNvPr>
          <p:cNvSpPr>
            <a:spLocks noGrp="1"/>
          </p:cNvSpPr>
          <p:nvPr/>
        </p:nvSpPr>
        <p:spPr>
          <a:xfrm>
            <a:off x="6940296" y="2112264"/>
            <a:ext cx="454456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Prêtes à être comparées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8C01EB9-28D4-4AC9-A5A8-00E35C3A6F7A}"/>
              </a:ext>
            </a:extLst>
          </p:cNvPr>
          <p:cNvSpPr>
            <a:spLocks noGrp="1"/>
          </p:cNvSpPr>
          <p:nvPr/>
        </p:nvSpPr>
        <p:spPr>
          <a:xfrm>
            <a:off x="731520" y="2624328"/>
            <a:ext cx="1078992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B75090D-3D1E-43A9-997E-73DE5A53B5D7}"/>
              </a:ext>
            </a:extLst>
          </p:cNvPr>
          <p:cNvSpPr>
            <a:spLocks noGrp="1"/>
          </p:cNvSpPr>
          <p:nvPr/>
        </p:nvSpPr>
        <p:spPr>
          <a:xfrm>
            <a:off x="768096" y="2670048"/>
            <a:ext cx="207568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Score silhouette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B592E3F-331D-4C2F-BE34-03C4B6FB630E}"/>
              </a:ext>
            </a:extLst>
          </p:cNvPr>
          <p:cNvSpPr>
            <a:spLocks noGrp="1"/>
          </p:cNvSpPr>
          <p:nvPr/>
        </p:nvSpPr>
        <p:spPr>
          <a:xfrm>
            <a:off x="2916936" y="2670048"/>
            <a:ext cx="395020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0,909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2F8F25E-A6B0-4C8F-AEC6-2B6E6D99034D}"/>
              </a:ext>
            </a:extLst>
          </p:cNvPr>
          <p:cNvSpPr>
            <a:spLocks noGrp="1"/>
          </p:cNvSpPr>
          <p:nvPr/>
        </p:nvSpPr>
        <p:spPr>
          <a:xfrm>
            <a:off x="6940296" y="2670048"/>
            <a:ext cx="454456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Séparation statistique excellente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6A9CCA8-0E4B-42F6-B232-A449F6E2DB4E}"/>
              </a:ext>
            </a:extLst>
          </p:cNvPr>
          <p:cNvSpPr>
            <a:spLocks noGrp="1"/>
          </p:cNvSpPr>
          <p:nvPr/>
        </p:nvSpPr>
        <p:spPr>
          <a:xfrm>
            <a:off x="731520" y="3182112"/>
            <a:ext cx="1078992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A2761B2-0D72-4CB2-81D3-067D3165363E}"/>
              </a:ext>
            </a:extLst>
          </p:cNvPr>
          <p:cNvSpPr>
            <a:spLocks noGrp="1"/>
          </p:cNvSpPr>
          <p:nvPr/>
        </p:nvSpPr>
        <p:spPr>
          <a:xfrm>
            <a:off x="768096" y="3227832"/>
            <a:ext cx="207568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Contrôle historique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53B5B66-9177-4D2C-A023-C868FA4553F2}"/>
              </a:ext>
            </a:extLst>
          </p:cNvPr>
          <p:cNvSpPr>
            <a:spLocks noGrp="1"/>
          </p:cNvSpPr>
          <p:nvPr/>
        </p:nvSpPr>
        <p:spPr>
          <a:xfrm>
            <a:off x="2916936" y="3227832"/>
            <a:ext cx="395020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16 biens retrouvés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F6F4AD6-7FEA-4E82-806A-3758DD2BDE7A}"/>
              </a:ext>
            </a:extLst>
          </p:cNvPr>
          <p:cNvSpPr>
            <a:spLocks noGrp="1"/>
          </p:cNvSpPr>
          <p:nvPr/>
        </p:nvSpPr>
        <p:spPr>
          <a:xfrm>
            <a:off x="6940296" y="3227832"/>
            <a:ext cx="454456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16 classifications concordantes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D37BC71-259C-4740-9034-59B02603258A}"/>
              </a:ext>
            </a:extLst>
          </p:cNvPr>
          <p:cNvSpPr>
            <a:spLocks noGrp="1"/>
          </p:cNvSpPr>
          <p:nvPr/>
        </p:nvSpPr>
        <p:spPr>
          <a:xfrm>
            <a:off x="731520" y="3739896"/>
            <a:ext cx="1078992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B114472-626F-47D8-9EDC-3F550006B4FD}"/>
              </a:ext>
            </a:extLst>
          </p:cNvPr>
          <p:cNvSpPr>
            <a:spLocks noGrp="1"/>
          </p:cNvSpPr>
          <p:nvPr/>
        </p:nvSpPr>
        <p:spPr>
          <a:xfrm>
            <a:off x="768096" y="3785616"/>
            <a:ext cx="207568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Taux sur biens vérifiables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FBA86F1-C88E-4C7B-998B-3F89AA59BCEF}"/>
              </a:ext>
            </a:extLst>
          </p:cNvPr>
          <p:cNvSpPr>
            <a:spLocks noGrp="1"/>
          </p:cNvSpPr>
          <p:nvPr/>
        </p:nvSpPr>
        <p:spPr>
          <a:xfrm>
            <a:off x="2916936" y="3785616"/>
            <a:ext cx="395020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100 %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47DE6D5-79AF-4656-8F14-C0B2FC54F06E}"/>
              </a:ext>
            </a:extLst>
          </p:cNvPr>
          <p:cNvSpPr>
            <a:spLocks noGrp="1"/>
          </p:cNvSpPr>
          <p:nvPr/>
        </p:nvSpPr>
        <p:spPr>
          <a:xfrm>
            <a:off x="6940296" y="3785616"/>
            <a:ext cx="4544568" cy="48463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00">
                <a:solidFill>
                  <a:srgbClr val="171A1F"/>
                </a:solidFill>
                <a:latin typeface="Aptos"/>
                <a:ea typeface="Aptos"/>
                <a:cs typeface="Aptos"/>
              </a:rPr>
              <a:t>Contrôle cohérent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261758A-31BF-49C1-84F0-035935E9A875}"/>
              </a:ext>
            </a:extLst>
          </p:cNvPr>
          <p:cNvSpPr>
            <a:spLocks noGrp="1"/>
          </p:cNvSpPr>
          <p:nvPr/>
        </p:nvSpPr>
        <p:spPr>
          <a:xfrm>
            <a:off x="731520" y="4297680"/>
            <a:ext cx="1078992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B0A7FFD-5674-46C0-93E9-A53D6FECC797}"/>
              </a:ext>
            </a:extLst>
          </p:cNvPr>
          <p:cNvSpPr>
            <a:spLocks noGrp="1"/>
          </p:cNvSpPr>
          <p:nvPr/>
        </p:nvSpPr>
        <p:spPr>
          <a:xfrm>
            <a:off x="978408" y="5565267"/>
            <a:ext cx="10149840" cy="384048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 fontScale="81377" lnSpcReduction="10000"/>
          </a:bodyPr>
          <a:lstStyle/>
          <a:p>
            <a:pPr marL="0" indent="0">
              <a:buNone/>
            </a:pPr>
            <a:r>
              <a:rPr sz="1900" b="1">
                <a:solidFill>
                  <a:srgbClr val="1E2A36"/>
                </a:solidFill>
              </a:rPr>
              <a:t>Le score de silhouette valide la séparation statistique ; le rapprochement historique vérifie les lignes retrouvées.</a:t>
            </a:r>
          </a:p>
        </p:txBody>
      </p:sp>
      <p:sp>
        <p:nvSpPr>
          <p:cNvPr id="26" name="Slide Number Placeholder 0">
            <a:extLst>
              <a:ext uri="{FF2B5EF4-FFF2-40B4-BE49-F238E27FC236}">
                <a16:creationId xmlns:a16="http://schemas.microsoft.com/office/drawing/2014/main" id="{97207F7E-9BD0-4C0F-895D-F4E3038242B7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CCF91274-D221-1BB4-3BF9-836E3AD31EBE}" type="slidenum">
              <a:rPr b="0"/>
              <a:t>19</a:t>
            </a:fld>
            <a:endParaRPr b="0"/>
          </a:p>
        </p:txBody>
      </p:sp>
      <p:pic>
        <p:nvPicPr>
          <p:cNvPr id="53" name="Imag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01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CFF4FF-589F-4D63-A9FB-9CF69DB5B363}"/>
              </a:ext>
            </a:extLst>
          </p:cNvPr>
          <p:cNvSpPr>
            <a:spLocks noGrp="1"/>
          </p:cNvSpPr>
          <p:nvPr/>
        </p:nvSpPr>
        <p:spPr>
          <a:xfrm>
            <a:off x="566928" y="38404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 b="1">
                <a:solidFill>
                  <a:srgbClr val="FF7200"/>
                </a:solidFill>
              </a:rPr>
              <a:t>RECOMMANDATIONS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A4633E-0477-4BC6-973D-BF4D4C9BB3A6}"/>
              </a:ext>
            </a:extLst>
          </p:cNvPr>
          <p:cNvSpPr>
            <a:spLocks noGrp="1"/>
          </p:cNvSpPr>
          <p:nvPr/>
        </p:nvSpPr>
        <p:spPr>
          <a:xfrm>
            <a:off x="566928" y="6400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71A1F"/>
                </a:solidFill>
              </a:rPr>
              <a:t>Sécuriser l’usage du modèle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065CCD2-C011-4E42-A081-482A77C6D879}"/>
              </a:ext>
            </a:extLst>
          </p:cNvPr>
          <p:cNvSpPr>
            <a:spLocks noGrp="1"/>
          </p:cNvSpPr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D016C0-9AED-4EEC-AD13-771C521B5B06}"/>
              </a:ext>
            </a:extLst>
          </p:cNvPr>
          <p:cNvSpPr>
            <a:spLocks noGrp="1"/>
          </p:cNvSpPr>
          <p:nvPr/>
        </p:nvSpPr>
        <p:spPr>
          <a:xfrm>
            <a:off x="868680" y="2059614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33A5B6"/>
                </a:solidFill>
              </a:rPr>
              <a:t>VALORISATION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FB836C0-92E7-4995-8616-F8EEAAAF7D8F}"/>
              </a:ext>
            </a:extLst>
          </p:cNvPr>
          <p:cNvSpPr>
            <a:spLocks noGrp="1"/>
          </p:cNvSpPr>
          <p:nvPr/>
        </p:nvSpPr>
        <p:spPr>
          <a:xfrm>
            <a:off x="868680" y="2352222"/>
            <a:ext cx="4297680" cy="0"/>
          </a:xfrm>
          <a:prstGeom prst="line">
            <a:avLst/>
          </a:prstGeom>
          <a:noFill/>
          <a:ln w="1524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F931B47-A67E-4722-BF7B-A1DA56C5AB4A}"/>
              </a:ext>
            </a:extLst>
          </p:cNvPr>
          <p:cNvSpPr>
            <a:spLocks noGrp="1"/>
          </p:cNvSpPr>
          <p:nvPr/>
        </p:nvSpPr>
        <p:spPr>
          <a:xfrm>
            <a:off x="914400" y="2471094"/>
            <a:ext cx="5120640" cy="182880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/>
          </a:bodyPr>
          <a:lstStyle/>
          <a:p>
            <a:r>
              <a:rPr sz="1500">
                <a:solidFill>
                  <a:srgbClr val="171A1F"/>
                </a:solidFill>
              </a:rPr>
              <a:t>Prioriser le suivi du segment corporate, valorisé à 97,53 M€.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Faire expertiser les actifs de forte valeur ou à risque d’erreur élevé.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Actualiser le modèle avec des transactions postérieures à 2021.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884252D-1E20-4B50-97AE-382F9269FF8A}"/>
              </a:ext>
            </a:extLst>
          </p:cNvPr>
          <p:cNvSpPr>
            <a:spLocks noGrp="1"/>
          </p:cNvSpPr>
          <p:nvPr/>
        </p:nvSpPr>
        <p:spPr>
          <a:xfrm>
            <a:off x="6400800" y="2059614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33A5B6"/>
                </a:solidFill>
              </a:rPr>
              <a:t>CLASSIFICATION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A0624E1-B3A7-4DD1-A777-383DBED9000E}"/>
              </a:ext>
            </a:extLst>
          </p:cNvPr>
          <p:cNvSpPr>
            <a:spLocks noGrp="1"/>
          </p:cNvSpPr>
          <p:nvPr/>
        </p:nvSpPr>
        <p:spPr>
          <a:xfrm>
            <a:off x="6400800" y="2352222"/>
            <a:ext cx="4297680" cy="0"/>
          </a:xfrm>
          <a:prstGeom prst="line">
            <a:avLst/>
          </a:prstGeom>
          <a:noFill/>
          <a:ln w="15240">
            <a:solidFill>
              <a:srgbClr val="33A5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BB0E7DB-AE60-4F00-8B70-544EE1419F8D}"/>
              </a:ext>
            </a:extLst>
          </p:cNvPr>
          <p:cNvSpPr>
            <a:spLocks noGrp="1"/>
          </p:cNvSpPr>
          <p:nvPr/>
        </p:nvSpPr>
        <p:spPr>
          <a:xfrm>
            <a:off x="6446520" y="2471094"/>
            <a:ext cx="4937760" cy="1828800"/>
          </a:xfrm>
          <a:prstGeom prst="rect">
            <a:avLst/>
          </a:prstGeom>
          <a:noFill/>
        </p:spPr>
        <p:txBody>
          <a:bodyPr wrap="square" lIns="635" tIns="635" rIns="635" bIns="635" anchor="t">
            <a:normAutofit lnSpcReduction="10000"/>
          </a:bodyPr>
          <a:lstStyle/>
          <a:p>
            <a:r>
              <a:rPr sz="1500">
                <a:solidFill>
                  <a:srgbClr val="171A1F"/>
                </a:solidFill>
              </a:rPr>
              <a:t>Conserver le contrôle historique : 16 biens retrouvés, 16 concordances.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Ajouter une matrice de confusion si un fichier labellisé complet est transmis.</a:t>
            </a:r>
          </a:p>
          <a:p>
            <a:endParaRPr sz="1500">
              <a:solidFill>
                <a:srgbClr val="171A1F"/>
              </a:solidFill>
            </a:endParaRPr>
          </a:p>
          <a:p>
            <a:r>
              <a:rPr sz="1500">
                <a:solidFill>
                  <a:srgbClr val="171A1F"/>
                </a:solidFill>
              </a:rPr>
              <a:t>Contrôler les prochaines prédictions avant usage opérationnel.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C53ACF9-27AE-463A-B903-8E18FFB94408}"/>
              </a:ext>
            </a:extLst>
          </p:cNvPr>
          <p:cNvSpPr>
            <a:spLocks noGrp="1"/>
          </p:cNvSpPr>
          <p:nvPr/>
        </p:nvSpPr>
        <p:spPr>
          <a:xfrm>
            <a:off x="868680" y="5488614"/>
            <a:ext cx="10332720" cy="548640"/>
          </a:xfrm>
          <a:prstGeom prst="rect">
            <a:avLst/>
          </a:prstGeom>
          <a:noFill/>
        </p:spPr>
        <p:txBody>
          <a:bodyPr wrap="square" lIns="381" tIns="381" rIns="381" bIns="381" anchor="t">
            <a:normAutofit fontScale="94605" lnSpcReduction="10000"/>
          </a:bodyPr>
          <a:lstStyle/>
          <a:p>
            <a:pPr marL="0" indent="0">
              <a:buNone/>
            </a:pPr>
            <a:r>
              <a:rPr sz="1900" b="1">
                <a:solidFill>
                  <a:srgbClr val="FF7200"/>
                </a:solidFill>
              </a:rPr>
              <a:t>Priorité : actualiser l’historique et contrôler K-means avec les prochains retours terrain avant mise en production.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5ADCFF2-1E77-4543-B7F7-0ECF6F30FC1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18520" y="6419088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650">
                <a:solidFill>
                  <a:srgbClr val="7A74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buNone/>
            </a:pPr>
            <a:fld id="{844E025A-983C-6D44-79C6-4612AACD43FC}" type="slidenum">
              <a:rPr b="0"/>
              <a:t>20</a:t>
            </a:fld>
            <a:endParaRPr b="0"/>
          </a:p>
        </p:txBody>
      </p:sp>
      <p:pic>
        <p:nvPicPr>
          <p:cNvPr id="38" name="Imag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50106" y="197217"/>
            <a:ext cx="1640152" cy="8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56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1250</Words>
  <Application>Microsoft Office PowerPoint</Application>
  <DocSecurity>0</DocSecurity>
  <PresentationFormat>Grand écran</PresentationFormat>
  <Paragraphs>279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Aptos</vt:lpstr>
      <vt:lpstr>Aptos Display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lastModifiedBy>paco humbert</cp:lastModifiedBy>
  <cp:revision>1</cp:revision>
  <dcterms:created xsi:type="dcterms:W3CDTF">2026-08-04T12:59:21Z</dcterms:created>
  <dcterms:modified xsi:type="dcterms:W3CDTF">2026-08-17T05:48:24Z</dcterms:modified>
</cp:coreProperties>
</file>